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notesMasterIdLst>
    <p:notesMasterId r:id="rId39"/>
  </p:notesMasterIdLst>
  <p:sldIdLst>
    <p:sldId id="256" r:id="rId3"/>
    <p:sldId id="293" r:id="rId4"/>
    <p:sldId id="257" r:id="rId5"/>
    <p:sldId id="287" r:id="rId6"/>
    <p:sldId id="259" r:id="rId7"/>
    <p:sldId id="284" r:id="rId8"/>
    <p:sldId id="261" r:id="rId9"/>
    <p:sldId id="260" r:id="rId10"/>
    <p:sldId id="268" r:id="rId11"/>
    <p:sldId id="269" r:id="rId12"/>
    <p:sldId id="270" r:id="rId13"/>
    <p:sldId id="282" r:id="rId14"/>
    <p:sldId id="285" r:id="rId15"/>
    <p:sldId id="288" r:id="rId16"/>
    <p:sldId id="283" r:id="rId17"/>
    <p:sldId id="262" r:id="rId18"/>
    <p:sldId id="271" r:id="rId19"/>
    <p:sldId id="263" r:id="rId20"/>
    <p:sldId id="278" r:id="rId21"/>
    <p:sldId id="273" r:id="rId22"/>
    <p:sldId id="264" r:id="rId23"/>
    <p:sldId id="274" r:id="rId24"/>
    <p:sldId id="291" r:id="rId25"/>
    <p:sldId id="292" r:id="rId26"/>
    <p:sldId id="265" r:id="rId27"/>
    <p:sldId id="275" r:id="rId28"/>
    <p:sldId id="276" r:id="rId29"/>
    <p:sldId id="277" r:id="rId30"/>
    <p:sldId id="289" r:id="rId31"/>
    <p:sldId id="290" r:id="rId32"/>
    <p:sldId id="266" r:id="rId33"/>
    <p:sldId id="279" r:id="rId34"/>
    <p:sldId id="280" r:id="rId35"/>
    <p:sldId id="281" r:id="rId36"/>
    <p:sldId id="294" r:id="rId37"/>
    <p:sldId id="296" r:id="rId3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7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768093-3696-4B9A-9CA3-418B81DE877F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83A499-4906-4BE6-A86E-B786C839E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43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83A499-4906-4BE6-A86E-B786C839E1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38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83A499-4906-4BE6-A86E-B786C839E16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65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712760" y="569520"/>
            <a:ext cx="3939120" cy="236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379400" cy="466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13160" y="3431880"/>
            <a:ext cx="3241080" cy="1009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4309200" y="25905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title"/>
          </p:nvPr>
        </p:nvSpPr>
        <p:spPr>
          <a:xfrm>
            <a:off x="4309200" y="16228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4309200" y="30740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title"/>
          </p:nvPr>
        </p:nvSpPr>
        <p:spPr>
          <a:xfrm>
            <a:off x="4309200" y="35578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title"/>
          </p:nvPr>
        </p:nvSpPr>
        <p:spPr>
          <a:xfrm>
            <a:off x="4309200" y="11394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7"/>
          <p:cNvSpPr>
            <a:spLocks noGrp="1"/>
          </p:cNvSpPr>
          <p:nvPr>
            <p:ph type="title"/>
          </p:nvPr>
        </p:nvSpPr>
        <p:spPr>
          <a:xfrm>
            <a:off x="4309200" y="21067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8"/>
          <p:cNvSpPr>
            <a:spLocks noGrp="1"/>
          </p:cNvSpPr>
          <p:nvPr>
            <p:ph type="title"/>
          </p:nvPr>
        </p:nvSpPr>
        <p:spPr>
          <a:xfrm>
            <a:off x="4309200" y="40417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9"/>
          <p:cNvSpPr>
            <a:spLocks noGrp="1"/>
          </p:cNvSpPr>
          <p:nvPr>
            <p:ph type="title"/>
          </p:nvPr>
        </p:nvSpPr>
        <p:spPr>
          <a:xfrm>
            <a:off x="4309200" y="6559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0"/>
          <p:cNvSpPr>
            <a:spLocks noGrp="1"/>
          </p:cNvSpPr>
          <p:nvPr>
            <p:ph type="body"/>
          </p:nvPr>
        </p:nvSpPr>
        <p:spPr>
          <a:xfrm>
            <a:off x="433440" y="0"/>
            <a:ext cx="2806200" cy="3181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3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813680" y="917640"/>
            <a:ext cx="6134400" cy="1059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228600" y="812880"/>
            <a:ext cx="126792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89960" y="882360"/>
            <a:ext cx="5562360" cy="69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0223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716080" y="0"/>
            <a:ext cx="3427920" cy="466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28600" y="2050200"/>
            <a:ext cx="3180240" cy="645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212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title"/>
          </p:nvPr>
        </p:nvSpPr>
        <p:spPr>
          <a:xfrm>
            <a:off x="4387320" y="3526200"/>
            <a:ext cx="57816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Fahkwang"/>
                <a:ea typeface="Fahkwan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title"/>
          </p:nvPr>
        </p:nvSpPr>
        <p:spPr>
          <a:xfrm>
            <a:off x="4387320" y="1355760"/>
            <a:ext cx="57816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Fahkwang"/>
                <a:ea typeface="Fahkwan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title"/>
          </p:nvPr>
        </p:nvSpPr>
        <p:spPr>
          <a:xfrm>
            <a:off x="228960" y="1355760"/>
            <a:ext cx="57708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Fahkwang"/>
                <a:ea typeface="Fahkwan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title"/>
          </p:nvPr>
        </p:nvSpPr>
        <p:spPr>
          <a:xfrm>
            <a:off x="228960" y="3526200"/>
            <a:ext cx="57816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Fahkwang"/>
                <a:ea typeface="Fahkwan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title"/>
          </p:nvPr>
        </p:nvSpPr>
        <p:spPr>
          <a:xfrm>
            <a:off x="4387320" y="2440800"/>
            <a:ext cx="57816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Fahkwang"/>
                <a:ea typeface="Fahkwan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7"/>
          <p:cNvSpPr>
            <a:spLocks noGrp="1"/>
          </p:cNvSpPr>
          <p:nvPr>
            <p:ph type="title"/>
          </p:nvPr>
        </p:nvSpPr>
        <p:spPr>
          <a:xfrm>
            <a:off x="228600" y="2440800"/>
            <a:ext cx="57816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Fahkwang"/>
                <a:ea typeface="Fahkwang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893120" y="1112040"/>
            <a:ext cx="40219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title"/>
          </p:nvPr>
        </p:nvSpPr>
        <p:spPr>
          <a:xfrm>
            <a:off x="4893120" y="2885040"/>
            <a:ext cx="40219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-12240" y="-9360"/>
            <a:ext cx="4079520" cy="5152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104200" y="3326400"/>
            <a:ext cx="6561720" cy="1059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377280" y="3221640"/>
            <a:ext cx="126792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3080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39920" y="470520"/>
            <a:ext cx="5089680" cy="82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Google Shape;109;p21"/>
          <p:cNvSpPr/>
          <p:nvPr/>
        </p:nvSpPr>
        <p:spPr>
          <a:xfrm>
            <a:off x="5846400" y="3679920"/>
            <a:ext cx="273564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tkinson Hyperlegible Next"/>
                <a:ea typeface="Atkinson Hyperlegible Next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tkinson Hyperlegible Next"/>
                <a:ea typeface="Atkinson Hyperlegible Next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tkinson Hyperlegible Next"/>
                <a:ea typeface="Atkinson Hyperlegible Next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tkinson Hyperlegible Next"/>
                <a:ea typeface="Atkinson Hyperlegible Next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tkinson Hyperlegible Next"/>
                <a:ea typeface="Atkinson Hyperlegible Next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tkinson Hyperlegible Next"/>
                <a:ea typeface="Atkinson Hyperlegible Next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111;p22"/>
          <p:cNvCxnSpPr/>
          <p:nvPr/>
        </p:nvCxnSpPr>
        <p:spPr>
          <a:xfrm>
            <a:off x="-5040" y="4709880"/>
            <a:ext cx="91494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411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279400" y="0"/>
            <a:ext cx="38642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5023080" y="4160160"/>
            <a:ext cx="3658320" cy="7545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18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121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5" Type="http://schemas.openxmlformats.org/officeDocument/2006/relationships/image" Target="../media/image2.png"/><Relationship Id="rId4" Type="http://schemas.openxmlformats.org/officeDocument/2006/relationships/hyperlink" Target="https://www.kaggle.com/datasets/chaitanyakck/medical-text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.xml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Relationship Id="rId5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2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5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6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106.14463" TargetMode="Externa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373923" y="100428"/>
            <a:ext cx="6532117" cy="289248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A DEEP LEARNING-BASED APPROACH FOR EXTRACTION OF INFORMATION FROM ELECTRONIC HEALTH RECORDS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Fahkwang Light"/>
              <a:ea typeface="Fahkwang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562707" y="2520558"/>
            <a:ext cx="3622431" cy="126025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n-US" sz="2000" b="1" dirty="0"/>
              <a:t>By</a:t>
            </a:r>
            <a:endParaRPr lang="en-US" sz="2000" dirty="0"/>
          </a:p>
          <a:p>
            <a:r>
              <a:rPr lang="en-US" sz="2000" b="1" dirty="0"/>
              <a:t>Fatima Masood</a:t>
            </a:r>
            <a:endParaRPr lang="en-US" sz="2000" dirty="0"/>
          </a:p>
          <a:p>
            <a:r>
              <a:rPr lang="en-US" sz="2000" b="1" dirty="0"/>
              <a:t>ID: MSSE71F23S006</a:t>
            </a:r>
            <a:endParaRPr lang="en-US" sz="2000" dirty="0"/>
          </a:p>
          <a:p>
            <a:r>
              <a:rPr lang="en-US" sz="2000" b="1" dirty="0"/>
              <a:t> </a:t>
            </a:r>
            <a:endParaRPr lang="en-US" sz="2000" dirty="0"/>
          </a:p>
        </p:txBody>
      </p:sp>
      <p:cxnSp>
        <p:nvCxnSpPr>
          <p:cNvPr id="58" name="Google Shape;131;p28"/>
          <p:cNvCxnSpPr/>
          <p:nvPr/>
        </p:nvCxnSpPr>
        <p:spPr>
          <a:xfrm>
            <a:off x="-9360" y="43540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sp>
        <p:nvSpPr>
          <p:cNvPr id="60" name="Google Shape;133;p28"/>
          <p:cNvSpPr/>
          <p:nvPr/>
        </p:nvSpPr>
        <p:spPr>
          <a:xfrm>
            <a:off x="96715" y="4393440"/>
            <a:ext cx="8959362" cy="9848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tabLst>
                <a:tab pos="0" algn="l"/>
              </a:tabLst>
            </a:pPr>
            <a:r>
              <a:rPr lang="en-US" sz="1600" b="1" dirty="0">
                <a:solidFill>
                  <a:schemeClr val="dk1"/>
                </a:solidFill>
              </a:rPr>
              <a:t>Department of Software Engineering,</a:t>
            </a:r>
            <a:br>
              <a:rPr lang="en-US" sz="1600" b="1" dirty="0">
                <a:solidFill>
                  <a:schemeClr val="dk1"/>
                </a:solidFill>
              </a:rPr>
            </a:br>
            <a:r>
              <a:rPr lang="en-US" sz="1600" b="1" dirty="0">
                <a:solidFill>
                  <a:schemeClr val="dk1"/>
                </a:solidFill>
              </a:rPr>
              <a:t>Faculty of Computing and Information Technology,</a:t>
            </a:r>
            <a:br>
              <a:rPr lang="en-US" sz="1600" b="1" dirty="0">
                <a:solidFill>
                  <a:schemeClr val="dk1"/>
                </a:solidFill>
              </a:rPr>
            </a:br>
            <a:r>
              <a:rPr lang="en-US" sz="1600" b="1" dirty="0">
                <a:solidFill>
                  <a:schemeClr val="dk1"/>
                </a:solidFill>
              </a:rPr>
              <a:t>University of Sargodha, Pakistan</a:t>
            </a:r>
            <a:br>
              <a:rPr lang="en-US" sz="1600" b="1" dirty="0">
                <a:solidFill>
                  <a:schemeClr val="dk1"/>
                </a:solidFill>
              </a:rPr>
            </a:br>
            <a:endParaRPr lang="en-US" sz="16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1095" y="272562"/>
            <a:ext cx="1598883" cy="1604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5178668" y="2520558"/>
            <a:ext cx="38070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dirty="0"/>
              <a:t>Supervised by</a:t>
            </a:r>
            <a:endParaRPr lang="en-US" dirty="0"/>
          </a:p>
          <a:p>
            <a:pPr algn="r"/>
            <a:r>
              <a:rPr lang="en-US" b="1" dirty="0"/>
              <a:t>Dr. Muhammad Summair Raza</a:t>
            </a:r>
            <a:endParaRPr lang="en-US" dirty="0"/>
          </a:p>
          <a:p>
            <a:pPr algn="r"/>
            <a:r>
              <a:rPr lang="en-US" b="1" dirty="0"/>
              <a:t>            Co-Supervised by   </a:t>
            </a:r>
            <a:endParaRPr lang="en-US" dirty="0"/>
          </a:p>
          <a:p>
            <a:pPr algn="r"/>
            <a:r>
              <a:rPr lang="en-US" b="1" dirty="0"/>
              <a:t>Dr. Muhammad Ramzan Malik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426"/>
    </mc:Choice>
    <mc:Fallback xmlns="">
      <p:transition spd="slow" advTm="244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 uiExpand="1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4546" y="131884"/>
            <a:ext cx="7703640" cy="914401"/>
          </a:xfrm>
        </p:spPr>
        <p:txBody>
          <a:bodyPr/>
          <a:lstStyle/>
          <a:p>
            <a:r>
              <a:rPr lang="en-US" dirty="0" smtClean="0"/>
              <a:t>PRESENTATION ONLINE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98938" y="914401"/>
            <a:ext cx="65326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MOTIVATION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RESEARCH OBJECTIVES &amp; CONTRIBUTION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RELATED WORK AND LITERATURE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GAPS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RESEARCH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DATASET DECSRIPTION AND PRE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MODEL DESIGN (METHODOLOGY)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RESULTS AND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DISCUSSION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62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18"/>
    </mc:Choice>
    <mc:Fallback xmlns="">
      <p:transition spd="slow" advTm="3118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01948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Introduction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24180" y="864360"/>
            <a:ext cx="5386860" cy="3798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fr-FR" sz="1600" b="1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ELECTRONIC HEALTH RECORDS (</a:t>
            </a:r>
            <a:r>
              <a:rPr lang="fr-FR" sz="1600" b="1" u="none" strike="noStrike" dirty="0" err="1" smtClean="0">
                <a:solidFill>
                  <a:srgbClr val="000000"/>
                </a:solidFill>
                <a:effectLst/>
                <a:uFillTx/>
                <a:latin typeface="Arial"/>
              </a:rPr>
              <a:t>EHRs</a:t>
            </a:r>
            <a:r>
              <a:rPr lang="fr-FR" sz="1600" b="1" dirty="0" smtClean="0">
                <a:solidFill>
                  <a:srgbClr val="000000"/>
                </a:solidFill>
                <a:latin typeface="Arial"/>
              </a:rPr>
              <a:t>):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000000"/>
                </a:solidFill>
              </a:rPr>
              <a:t>Digital records of a patient’s health </a:t>
            </a:r>
            <a:r>
              <a:rPr lang="en-US" sz="1600" dirty="0" smtClean="0">
                <a:solidFill>
                  <a:srgbClr val="000000"/>
                </a:solidFill>
              </a:rPr>
              <a:t>information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fr-FR" sz="1600" dirty="0" smtClean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fr-FR" sz="1600" b="1" u="none" strike="noStrike" dirty="0" smtClean="0">
                <a:solidFill>
                  <a:srgbClr val="000000"/>
                </a:solidFill>
                <a:effectLst/>
                <a:uFillTx/>
                <a:latin typeface="Arial"/>
              </a:rPr>
              <a:t>INFORMATION EXTRACTION: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dirty="0">
                <a:solidFill>
                  <a:srgbClr val="000000"/>
                </a:solidFill>
              </a:rPr>
              <a:t>An NLP process that automatically pulls meaningful information </a:t>
            </a:r>
            <a:r>
              <a:rPr lang="en-US" sz="1600" dirty="0" smtClean="0">
                <a:solidFill>
                  <a:srgbClr val="000000"/>
                </a:solidFill>
              </a:rPr>
              <a:t>from </a:t>
            </a:r>
            <a:r>
              <a:rPr lang="en-US" sz="1600" dirty="0">
                <a:solidFill>
                  <a:srgbClr val="000000"/>
                </a:solidFill>
              </a:rPr>
              <a:t>unstructured </a:t>
            </a:r>
            <a:r>
              <a:rPr lang="en-US" sz="1600" dirty="0" smtClean="0">
                <a:solidFill>
                  <a:srgbClr val="000000"/>
                </a:solidFill>
              </a:rPr>
              <a:t>text.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" name="Google Shape;206;p31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66" name="Google Shape;207;p31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1178" b="1"/>
          <a:stretch/>
        </p:blipFill>
        <p:spPr>
          <a:xfrm>
            <a:off x="5711040" y="167053"/>
            <a:ext cx="3225699" cy="4495307"/>
          </a:xfrm>
          <a:prstGeom prst="rect">
            <a:avLst/>
          </a:prstGeom>
        </p:spPr>
      </p:pic>
      <p:pic>
        <p:nvPicPr>
          <p:cNvPr id="7" name="Picture 6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0"/>
    </mc:Choice>
    <mc:Fallback xmlns="">
      <p:transition spd="slow" advTm="5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01948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Introduction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24180" y="864360"/>
            <a:ext cx="5386860" cy="3798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 dirty="0" smtClean="0">
                <a:solidFill>
                  <a:schemeClr val="dk1"/>
                </a:solidFill>
                <a:effectLst/>
                <a:uFillTx/>
                <a:latin typeface="+mn-lt"/>
                <a:ea typeface="Atkinson Hyperlegible Next Light"/>
              </a:rPr>
              <a:t>This Research: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u="none" strike="noStrike" dirty="0" smtClean="0">
                <a:solidFill>
                  <a:schemeClr val="dk1"/>
                </a:solidFill>
                <a:effectLst/>
                <a:uFillTx/>
                <a:latin typeface="+mn-lt"/>
                <a:ea typeface="Atkinson Hyperlegible Next Light"/>
              </a:rPr>
              <a:t>Addresses the </a:t>
            </a:r>
            <a:r>
              <a:rPr lang="en-US" sz="1600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Atkinson Hyperlegible Next Light"/>
              </a:rPr>
              <a:t>challenge </a:t>
            </a:r>
            <a:r>
              <a:rPr lang="en-US" sz="1600" u="none" strike="noStrike" dirty="0" smtClean="0">
                <a:solidFill>
                  <a:schemeClr val="dk1"/>
                </a:solidFill>
                <a:effectLst/>
                <a:uFillTx/>
                <a:latin typeface="+mn-lt"/>
                <a:ea typeface="Atkinson Hyperlegible Next Light"/>
              </a:rPr>
              <a:t>of extracting </a:t>
            </a:r>
            <a:r>
              <a:rPr lang="en-US" sz="1600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Atkinson Hyperlegible Next Light"/>
              </a:rPr>
              <a:t>structured medical data from unstructured Electronic Health Records (EHRs). </a:t>
            </a:r>
            <a:endParaRPr lang="en-US" sz="1600" u="none" strike="noStrike" dirty="0" smtClean="0">
              <a:solidFill>
                <a:schemeClr val="dk1"/>
              </a:solidFill>
              <a:effectLst/>
              <a:uFillTx/>
              <a:latin typeface="+mn-lt"/>
              <a:ea typeface="Atkinson Hyperlegible Next Ligh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u="none" strike="noStrike" dirty="0" smtClean="0">
                <a:solidFill>
                  <a:schemeClr val="dk1"/>
                </a:solidFill>
                <a:effectLst/>
                <a:uFillTx/>
                <a:latin typeface="+mn-lt"/>
                <a:ea typeface="Atkinson Hyperlegible Next Light"/>
              </a:rPr>
              <a:t>Proposes a </a:t>
            </a:r>
            <a:r>
              <a:rPr lang="en-US" sz="1600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Atkinson Hyperlegible Next Light"/>
              </a:rPr>
              <a:t>deep learning framework combining a </a:t>
            </a:r>
            <a:r>
              <a:rPr lang="en-US" sz="1600" u="none" strike="noStrike" dirty="0" err="1">
                <a:solidFill>
                  <a:schemeClr val="dk1"/>
                </a:solidFill>
                <a:effectLst/>
                <a:uFillTx/>
                <a:latin typeface="+mn-lt"/>
                <a:ea typeface="Atkinson Hyperlegible Next Light"/>
              </a:rPr>
              <a:t>BiLSTM</a:t>
            </a:r>
            <a:r>
              <a:rPr lang="en-US" sz="1600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Atkinson Hyperlegible Next Light"/>
              </a:rPr>
              <a:t>-based Named Entity Recognition model with a Runtime Context Identifier for real-time entity </a:t>
            </a:r>
            <a:r>
              <a:rPr lang="en-US" sz="1600" u="none" strike="noStrike" dirty="0" smtClean="0">
                <a:solidFill>
                  <a:schemeClr val="dk1"/>
                </a:solidFill>
                <a:effectLst/>
                <a:uFillTx/>
                <a:latin typeface="+mn-lt"/>
                <a:ea typeface="Atkinson Hyperlegible Next Light"/>
              </a:rPr>
              <a:t>extraction.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 smtClean="0">
                <a:solidFill>
                  <a:schemeClr val="dk1"/>
                </a:solidFill>
                <a:latin typeface="+mn-lt"/>
                <a:ea typeface="Atkinson Hyperlegible Next Light"/>
              </a:rPr>
              <a:t>Aims </a:t>
            </a:r>
            <a:r>
              <a:rPr lang="en-US" sz="1600" u="none" strike="noStrike" dirty="0" smtClean="0">
                <a:solidFill>
                  <a:schemeClr val="dk1"/>
                </a:solidFill>
                <a:effectLst/>
                <a:uFillTx/>
                <a:latin typeface="+mn-lt"/>
                <a:ea typeface="Atkinson Hyperlegible Next Light"/>
              </a:rPr>
              <a:t>to </a:t>
            </a:r>
            <a:r>
              <a:rPr lang="en-US" sz="1600" u="none" strike="noStrike" dirty="0">
                <a:solidFill>
                  <a:schemeClr val="dk1"/>
                </a:solidFill>
                <a:effectLst/>
                <a:uFillTx/>
                <a:latin typeface="+mn-lt"/>
                <a:ea typeface="Atkinson Hyperlegible Next Light"/>
              </a:rPr>
              <a:t>enhance clinical decision support by enabling precise and efficient medical information retrieval.</a:t>
            </a:r>
            <a:endParaRPr lang="fr-FR" sz="1600" u="none" strike="noStrike" dirty="0">
              <a:solidFill>
                <a:srgbClr val="000000"/>
              </a:solidFill>
              <a:effectLst/>
              <a:uFillTx/>
              <a:latin typeface="+mn-lt"/>
            </a:endParaRPr>
          </a:p>
        </p:txBody>
      </p:sp>
      <p:cxnSp>
        <p:nvCxnSpPr>
          <p:cNvPr id="65" name="Google Shape;206;p31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66" name="Google Shape;207;p31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054" y="76035"/>
            <a:ext cx="2968546" cy="4586325"/>
          </a:xfrm>
          <a:prstGeom prst="rect">
            <a:avLst/>
          </a:prstGeom>
        </p:spPr>
      </p:pic>
      <p:pic>
        <p:nvPicPr>
          <p:cNvPr id="7" name="Picture 6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7408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652"/>
    </mc:Choice>
    <mc:Fallback xmlns="">
      <p:transition spd="slow" advTm="346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01948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Motivation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281880" y="1257868"/>
            <a:ext cx="5429160" cy="340449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EHRs are exploding in </a:t>
            </a:r>
            <a:r>
              <a:rPr lang="en-US" sz="1600" dirty="0" smtClean="0"/>
              <a:t>volume and </a:t>
            </a:r>
            <a:r>
              <a:rPr lang="en-US" sz="1600" dirty="0"/>
              <a:t>projected to reach 2,300+ </a:t>
            </a:r>
            <a:r>
              <a:rPr lang="en-US" sz="1600" dirty="0" err="1"/>
              <a:t>exabytes</a:t>
            </a:r>
            <a:r>
              <a:rPr lang="en-US" sz="1600" dirty="0"/>
              <a:t> by 2025, with </a:t>
            </a:r>
            <a:r>
              <a:rPr lang="en-US" sz="1600" dirty="0" smtClean="0"/>
              <a:t>about 80</a:t>
            </a:r>
            <a:r>
              <a:rPr lang="en-US" sz="1600" dirty="0"/>
              <a:t>% stored as unstructured text</a:t>
            </a:r>
            <a:r>
              <a:rPr lang="en-US" sz="1600" dirty="0" smtClean="0"/>
              <a:t>. [1]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Critical clinical information is hidden in free-text, causing </a:t>
            </a:r>
            <a:r>
              <a:rPr lang="en-US" sz="1600" dirty="0" smtClean="0"/>
              <a:t>delays; clinicians spend about </a:t>
            </a:r>
            <a:r>
              <a:rPr lang="en-US" sz="1600" dirty="0"/>
              <a:t>35% of their time navigating records</a:t>
            </a:r>
            <a:r>
              <a:rPr lang="en-US" sz="1600" dirty="0" smtClean="0"/>
              <a:t>. [2]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Manual data extraction is </a:t>
            </a:r>
            <a:r>
              <a:rPr lang="en-US" sz="1600" dirty="0" smtClean="0"/>
              <a:t>slow</a:t>
            </a:r>
            <a:r>
              <a:rPr lang="en-US" sz="1600" dirty="0"/>
              <a:t> </a:t>
            </a:r>
            <a:r>
              <a:rPr lang="en-US" sz="1600" dirty="0" smtClean="0"/>
              <a:t>and costly.</a:t>
            </a:r>
            <a:endParaRPr lang="en-US" sz="1600" dirty="0"/>
          </a:p>
        </p:txBody>
      </p:sp>
      <p:cxnSp>
        <p:nvCxnSpPr>
          <p:cNvPr id="77" name="Google Shape;206;p31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78" name="Google Shape;207;p31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737" y="228600"/>
            <a:ext cx="3291001" cy="4357824"/>
          </a:xfrm>
          <a:prstGeom prst="rect">
            <a:avLst/>
          </a:prstGeom>
        </p:spPr>
      </p:pic>
      <p:pic>
        <p:nvPicPr>
          <p:cNvPr id="7" name="Picture 6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971"/>
    </mc:Choice>
    <mc:Fallback xmlns="">
      <p:transition spd="slow" advTm="759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01948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Motivation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228600" y="1002988"/>
            <a:ext cx="5429160" cy="340449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Healthcare needs automated, scalable solutions to process millions of clinical notes generated daily.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Deep learning models outperform traditional NLP, improving extraction accuracy by 10–25</a:t>
            </a:r>
            <a:r>
              <a:rPr lang="en-US" sz="1600" dirty="0" smtClean="0"/>
              <a:t>%. [3]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Better extraction enhances clinical decisions, reducing adverse </a:t>
            </a:r>
            <a:r>
              <a:rPr lang="en-US" sz="1600" dirty="0" smtClean="0"/>
              <a:t>and </a:t>
            </a:r>
            <a:r>
              <a:rPr lang="en-US" sz="1600" dirty="0"/>
              <a:t>improving diagnosis accuracy</a:t>
            </a:r>
            <a:r>
              <a:rPr lang="en-US" sz="1600" dirty="0" smtClean="0"/>
              <a:t>.</a:t>
            </a:r>
            <a:endParaRPr lang="en-US" sz="1600" dirty="0"/>
          </a:p>
        </p:txBody>
      </p:sp>
      <p:cxnSp>
        <p:nvCxnSpPr>
          <p:cNvPr id="77" name="Google Shape;206;p31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78" name="Google Shape;207;p31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361203" y="854960"/>
            <a:ext cx="4403444" cy="2992466"/>
          </a:xfrm>
          <a:prstGeom prst="rect">
            <a:avLst/>
          </a:prstGeom>
        </p:spPr>
      </p:pic>
      <p:pic>
        <p:nvPicPr>
          <p:cNvPr id="7" name="Picture 6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9646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193"/>
    </mc:Choice>
    <mc:Fallback xmlns="">
      <p:transition spd="slow" advTm="371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191040" y="85860"/>
            <a:ext cx="556236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Research </a:t>
            </a:r>
            <a:r>
              <a:rPr lang="en-US" sz="34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Objectives</a:t>
            </a:r>
            <a:endParaRPr lang="fr-FR" sz="3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3191040" y="1581120"/>
            <a:ext cx="5829868" cy="2990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  <a:tabLst>
                <a:tab pos="0" algn="l"/>
              </a:tabLst>
            </a:pPr>
            <a:r>
              <a:rPr lang="en-US" sz="16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To 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find out the deficiencies of the existing approaches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  <a:tabLst>
                <a:tab pos="0" algn="l"/>
              </a:tabLst>
            </a:pPr>
            <a:r>
              <a:rPr lang="en-US" sz="16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To 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develop an automated approach for structured information extraction from EHRs by overcoming the deficiencies of existing approaches.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  <a:tabLst>
                <a:tab pos="0" algn="l"/>
              </a:tabLst>
            </a:pPr>
            <a:r>
              <a:rPr lang="en-US" sz="16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To validate 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the proposed approach in terms of accuracy and efficiency using different case studies.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cxnSp>
        <p:nvCxnSpPr>
          <p:cNvPr id="85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86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1" y="85860"/>
            <a:ext cx="3149669" cy="4486140"/>
          </a:xfrm>
          <a:prstGeom prst="rect">
            <a:avLst/>
          </a:prstGeom>
        </p:spPr>
      </p:pic>
      <p:pic>
        <p:nvPicPr>
          <p:cNvPr id="7" name="Picture 6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872"/>
    </mc:Choice>
    <mc:Fallback xmlns="">
      <p:transition spd="slow" advTm="318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191040" y="147407"/>
            <a:ext cx="5020975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Related Work and Literature Review</a:t>
            </a:r>
            <a:endParaRPr lang="fr-FR" sz="3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3288239" y="1343728"/>
            <a:ext cx="5776629" cy="332079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Previous works include QA pipelines, BERT, and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ea typeface="Atkinson Hyperlegible Next Light"/>
              </a:rPr>
              <a:t>BiLSTM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 models for clinical entity extraction. </a:t>
            </a:r>
            <a:endParaRPr lang="en-US" sz="1600" dirty="0">
              <a:solidFill>
                <a:schemeClr val="dk1"/>
              </a:solidFill>
              <a:ea typeface="Atkinson Hyperlegible Next Ligh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Challenges 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involve data variability, model interpretation, and handling linguistic complexity. </a:t>
            </a:r>
            <a:endParaRPr lang="en-US" sz="1600" b="0" u="none" strike="noStrike" dirty="0" smtClean="0">
              <a:solidFill>
                <a:schemeClr val="dk1"/>
              </a:solidFill>
              <a:effectLst/>
              <a:uFillTx/>
              <a:ea typeface="Atkinson Hyperlegible Next Ligh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Unlike 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prior methods, </a:t>
            </a:r>
            <a:r>
              <a:rPr lang="en-US" sz="16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We integrate 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a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ea typeface="Atkinson Hyperlegible Next Light"/>
              </a:rPr>
              <a:t>BiLSTM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-NER with a Runtime Context Identifier to achieve robust multi-label entity extraction and runtime prediction, addressing gaps in precision and applicability to diverse datasets.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cxnSp>
        <p:nvCxnSpPr>
          <p:cNvPr id="81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82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25" y="147407"/>
            <a:ext cx="2950823" cy="44306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93631" y="2919046"/>
            <a:ext cx="975946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 rot="2011415">
            <a:off x="1837541" y="3252757"/>
            <a:ext cx="1319727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 rot="16200000">
            <a:off x="-51503" y="432077"/>
            <a:ext cx="986804" cy="41746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1" name="Picture 10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840"/>
    </mc:Choice>
    <mc:Fallback xmlns="">
      <p:transition spd="slow" advTm="608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  <p:bldP spid="8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274884" y="-77575"/>
            <a:ext cx="7478515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Related Work and Literature Review</a:t>
            </a:r>
            <a:endParaRPr lang="fr-FR" sz="3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82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104158"/>
              </p:ext>
            </p:extLst>
          </p:nvPr>
        </p:nvGraphicFramePr>
        <p:xfrm>
          <a:off x="89183" y="617225"/>
          <a:ext cx="8964194" cy="44008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05947">
                  <a:extLst>
                    <a:ext uri="{9D8B030D-6E8A-4147-A177-3AD203B41FA5}">
                      <a16:colId xmlns:a16="http://schemas.microsoft.com/office/drawing/2014/main" val="1960930552"/>
                    </a:ext>
                  </a:extLst>
                </a:gridCol>
                <a:gridCol w="4121427">
                  <a:extLst>
                    <a:ext uri="{9D8B030D-6E8A-4147-A177-3AD203B41FA5}">
                      <a16:colId xmlns:a16="http://schemas.microsoft.com/office/drawing/2014/main" val="23927748"/>
                    </a:ext>
                  </a:extLst>
                </a:gridCol>
                <a:gridCol w="4136820">
                  <a:extLst>
                    <a:ext uri="{9D8B030D-6E8A-4147-A177-3AD203B41FA5}">
                      <a16:colId xmlns:a16="http://schemas.microsoft.com/office/drawing/2014/main" val="2863609658"/>
                    </a:ext>
                  </a:extLst>
                </a:gridCol>
              </a:tblGrid>
              <a:tr h="20852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Paper</a:t>
                      </a:r>
                      <a:endParaRPr lang="en-US" sz="1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Methodology</a:t>
                      </a:r>
                      <a:endParaRPr lang="en-US" sz="1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Gaps</a:t>
                      </a:r>
                      <a:endParaRPr lang="en-US" sz="1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extLst>
                  <a:ext uri="{0D108BD9-81ED-4DB2-BD59-A6C34878D82A}">
                    <a16:rowId xmlns:a16="http://schemas.microsoft.com/office/drawing/2014/main" val="1613134783"/>
                  </a:ext>
                </a:extLst>
              </a:tr>
              <a:tr h="122510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[4]</a:t>
                      </a:r>
                      <a:endParaRPr lang="en-US" sz="1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QA techniques for extraction of information from EHRs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Addressing diverse question types and constrained answer options in EHR extraction.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extLst>
                  <a:ext uri="{0D108BD9-81ED-4DB2-BD59-A6C34878D82A}">
                    <a16:rowId xmlns:a16="http://schemas.microsoft.com/office/drawing/2014/main" val="4156019678"/>
                  </a:ext>
                </a:extLst>
              </a:tr>
              <a:tr h="122510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[5]</a:t>
                      </a:r>
                      <a:endParaRPr lang="en-US" sz="1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Information extraction schema for entities and relationships from radiology reports using the development of </a:t>
                      </a:r>
                      <a:r>
                        <a:rPr lang="en-US" sz="1400" kern="0" dirty="0" err="1">
                          <a:effectLst/>
                        </a:rPr>
                        <a:t>RedGraph</a:t>
                      </a:r>
                      <a:r>
                        <a:rPr lang="en-US" sz="1400" kern="0" dirty="0">
                          <a:effectLst/>
                        </a:rPr>
                        <a:t>.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1- The schema employed does not reflect information on clinical context in radiology reports, except for some parameters.</a:t>
                      </a:r>
                      <a:endParaRPr lang="en-US" sz="14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2- Cases of ambiguity in reports.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extLst>
                  <a:ext uri="{0D108BD9-81ED-4DB2-BD59-A6C34878D82A}">
                    <a16:rowId xmlns:a16="http://schemas.microsoft.com/office/drawing/2014/main" val="1896630191"/>
                  </a:ext>
                </a:extLst>
              </a:tr>
              <a:tr h="172237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[6]</a:t>
                      </a:r>
                      <a:endParaRPr lang="en-US" sz="1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Use of BERT models on unexplained radiology reports and labeled reading comprehension datasets, and proceeding with pre-training on radiology data sets and a medical encyclopedia.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The challenge of comparing reports from various radiologists due to different styles and word choices.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extLst>
                  <a:ext uri="{0D108BD9-81ED-4DB2-BD59-A6C34878D82A}">
                    <a16:rowId xmlns:a16="http://schemas.microsoft.com/office/drawing/2014/main" val="531223670"/>
                  </a:ext>
                </a:extLst>
              </a:tr>
            </a:tbl>
          </a:graphicData>
        </a:graphic>
      </p:graphicFrame>
      <p:pic>
        <p:nvPicPr>
          <p:cNvPr id="6" name="Picture 5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5763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41"/>
    </mc:Choice>
    <mc:Fallback xmlns="">
      <p:transition spd="slow" advTm="108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82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457282"/>
              </p:ext>
            </p:extLst>
          </p:nvPr>
        </p:nvGraphicFramePr>
        <p:xfrm>
          <a:off x="30053" y="0"/>
          <a:ext cx="9082453" cy="50789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8817">
                  <a:extLst>
                    <a:ext uri="{9D8B030D-6E8A-4147-A177-3AD203B41FA5}">
                      <a16:colId xmlns:a16="http://schemas.microsoft.com/office/drawing/2014/main" val="1960930552"/>
                    </a:ext>
                  </a:extLst>
                </a:gridCol>
                <a:gridCol w="3882887">
                  <a:extLst>
                    <a:ext uri="{9D8B030D-6E8A-4147-A177-3AD203B41FA5}">
                      <a16:colId xmlns:a16="http://schemas.microsoft.com/office/drawing/2014/main" val="23927748"/>
                    </a:ext>
                  </a:extLst>
                </a:gridCol>
                <a:gridCol w="4500749">
                  <a:extLst>
                    <a:ext uri="{9D8B030D-6E8A-4147-A177-3AD203B41FA5}">
                      <a16:colId xmlns:a16="http://schemas.microsoft.com/office/drawing/2014/main" val="2863609658"/>
                    </a:ext>
                  </a:extLst>
                </a:gridCol>
              </a:tblGrid>
              <a:tr h="22195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Paper</a:t>
                      </a:r>
                      <a:endParaRPr lang="en-US" sz="140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Methodology</a:t>
                      </a:r>
                      <a:endParaRPr lang="en-US" sz="1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Gaps</a:t>
                      </a:r>
                      <a:endParaRPr lang="en-US" sz="1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extLst>
                  <a:ext uri="{0D108BD9-81ED-4DB2-BD59-A6C34878D82A}">
                    <a16:rowId xmlns:a16="http://schemas.microsoft.com/office/drawing/2014/main" val="1613134783"/>
                  </a:ext>
                </a:extLst>
              </a:tr>
              <a:tr h="13317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[7]</a:t>
                      </a:r>
                      <a:endParaRPr lang="en-US" sz="1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Created an open-source pipeline based on a locally deployed Large Language Model (LLM), named it Llama 2, to extract quantitative data from clinical text.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LLMs' decisions are based on probabilities rather than clear identifiers for certain tasks, leading to potential biases.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extLst>
                  <a:ext uri="{0D108BD9-81ED-4DB2-BD59-A6C34878D82A}">
                    <a16:rowId xmlns:a16="http://schemas.microsoft.com/office/drawing/2014/main" val="3101393709"/>
                  </a:ext>
                </a:extLst>
              </a:tr>
              <a:tr h="153753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[8]</a:t>
                      </a:r>
                      <a:endParaRPr lang="en-US" sz="1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effectLst/>
                        </a:rPr>
                        <a:t>MetaMap</a:t>
                      </a:r>
                      <a:r>
                        <a:rPr lang="en-US" sz="1400" kern="0" dirty="0">
                          <a:effectLst/>
                        </a:rPr>
                        <a:t> and clinician annotations were applied on MIMIC-III nursing notes, evaluated by LLMs and fine-tuned models, with performance assessed through qualitative review and statistical analysis.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Using single-center data may limit generalizability to other centers.</a:t>
                      </a:r>
                      <a:endParaRPr lang="en-US" sz="14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extLst>
                  <a:ext uri="{0D108BD9-81ED-4DB2-BD59-A6C34878D82A}">
                    <a16:rowId xmlns:a16="http://schemas.microsoft.com/office/drawing/2014/main" val="373898401"/>
                  </a:ext>
                </a:extLst>
              </a:tr>
              <a:tr h="198143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[9]</a:t>
                      </a:r>
                      <a:endParaRPr lang="en-US" sz="1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Developing a framework to create a set of SDOH categories based on existing taxonomies and expert input then Evaluating three deep learning models: CNN, </a:t>
                      </a:r>
                      <a:r>
                        <a:rPr lang="en-US" sz="1400" kern="0" dirty="0" err="1">
                          <a:effectLst/>
                        </a:rPr>
                        <a:t>BiLSTM</a:t>
                      </a:r>
                      <a:r>
                        <a:rPr lang="en-US" sz="1400" kern="0" dirty="0">
                          <a:effectLst/>
                        </a:rPr>
                        <a:t>, and BERT-based Trained models on a manually annotated dataset of over 3,000 clinical notes.</a:t>
                      </a:r>
                      <a:endParaRPr lang="en-US" sz="14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1- Limited to a single healthcare system.</a:t>
                      </a:r>
                      <a:endParaRPr lang="en-US" sz="14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2- Validation across different clinical settings is needed to assess the generalizability of the approach.</a:t>
                      </a:r>
                      <a:endParaRPr lang="en-US" sz="14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 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extLst>
                  <a:ext uri="{0D108BD9-81ED-4DB2-BD59-A6C34878D82A}">
                    <a16:rowId xmlns:a16="http://schemas.microsoft.com/office/drawing/2014/main" val="2423434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239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96"/>
    </mc:Choice>
    <mc:Fallback xmlns="">
      <p:transition spd="slow" advTm="2296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82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118900"/>
              </p:ext>
            </p:extLst>
          </p:nvPr>
        </p:nvGraphicFramePr>
        <p:xfrm>
          <a:off x="70336" y="47218"/>
          <a:ext cx="8968155" cy="49380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7560">
                  <a:extLst>
                    <a:ext uri="{9D8B030D-6E8A-4147-A177-3AD203B41FA5}">
                      <a16:colId xmlns:a16="http://schemas.microsoft.com/office/drawing/2014/main" val="1960930552"/>
                    </a:ext>
                  </a:extLst>
                </a:gridCol>
                <a:gridCol w="3684104">
                  <a:extLst>
                    <a:ext uri="{9D8B030D-6E8A-4147-A177-3AD203B41FA5}">
                      <a16:colId xmlns:a16="http://schemas.microsoft.com/office/drawing/2014/main" val="23927748"/>
                    </a:ext>
                  </a:extLst>
                </a:gridCol>
                <a:gridCol w="4466491">
                  <a:extLst>
                    <a:ext uri="{9D8B030D-6E8A-4147-A177-3AD203B41FA5}">
                      <a16:colId xmlns:a16="http://schemas.microsoft.com/office/drawing/2014/main" val="2863609658"/>
                    </a:ext>
                  </a:extLst>
                </a:gridCol>
              </a:tblGrid>
              <a:tr h="25853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Paper</a:t>
                      </a:r>
                      <a:endParaRPr lang="en-US" sz="1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Methodology</a:t>
                      </a:r>
                      <a:endParaRPr lang="en-US" sz="1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Gaps</a:t>
                      </a:r>
                      <a:endParaRPr lang="en-US" sz="1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extLst>
                  <a:ext uri="{0D108BD9-81ED-4DB2-BD59-A6C34878D82A}">
                    <a16:rowId xmlns:a16="http://schemas.microsoft.com/office/drawing/2014/main" val="1613134783"/>
                  </a:ext>
                </a:extLst>
              </a:tr>
              <a:tr h="159588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[10]</a:t>
                      </a:r>
                      <a:endParaRPr lang="en-US" sz="1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Utilizes local-global memory neural networks (based on LSTM) for mortality prediction by learning both individual patient patterns (local memory) and global disease evidence (global memory) from ICU data.</a:t>
                      </a:r>
                      <a:endParaRPr lang="en-US" sz="14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1- Lack of model interpretability (black-box nature).</a:t>
                      </a:r>
                      <a:endParaRPr lang="en-US" sz="14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2- Limited insight into decision rationale reduces clinical trust.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extLst>
                  <a:ext uri="{0D108BD9-81ED-4DB2-BD59-A6C34878D82A}">
                    <a16:rowId xmlns:a16="http://schemas.microsoft.com/office/drawing/2014/main" val="236388686"/>
                  </a:ext>
                </a:extLst>
              </a:tr>
              <a:tr h="153241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[11]</a:t>
                      </a:r>
                      <a:endParaRPr lang="en-US" sz="1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Applies RNNs (specifically GRUs) on time-series EHR data from over 36,000 surgical inpatients to detect bacteremia; data sourced from ICU and general wards.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1- Model opacity makes it difficult to understand prediction logic.</a:t>
                      </a:r>
                      <a:endParaRPr lang="en-US" sz="14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2- Limited to data from a single hospital, affecting generalizability.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extLst>
                  <a:ext uri="{0D108BD9-81ED-4DB2-BD59-A6C34878D82A}">
                    <a16:rowId xmlns:a16="http://schemas.microsoft.com/office/drawing/2014/main" val="412753821"/>
                  </a:ext>
                </a:extLst>
              </a:tr>
              <a:tr h="155118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[12]</a:t>
                      </a:r>
                      <a:endParaRPr lang="en-US" sz="1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Implements a transformer-based hierarchical attention network incorporating temporal information from EHRs to enhance risk prediction accuracy across three real-world datasets.</a:t>
                      </a:r>
                      <a:endParaRPr lang="en-US" sz="14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1- Struggles with irregularities in EHR documentation.</a:t>
                      </a:r>
                      <a:endParaRPr lang="en-US" sz="1400" kern="100" dirty="0">
                        <a:effectLst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2- Lack of model explainability; decision-making process remains opaque.</a:t>
                      </a:r>
                      <a:endParaRPr lang="en-US" sz="14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20176" marR="20176" marT="0" marB="0"/>
                </a:tc>
                <a:extLst>
                  <a:ext uri="{0D108BD9-81ED-4DB2-BD59-A6C34878D82A}">
                    <a16:rowId xmlns:a16="http://schemas.microsoft.com/office/drawing/2014/main" val="2444185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28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16"/>
    </mc:Choice>
    <mc:Fallback xmlns="">
      <p:transition spd="slow" advTm="2816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01948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dirty="0" smtClean="0">
                <a:solidFill>
                  <a:schemeClr val="dk1"/>
                </a:solidFill>
                <a:latin typeface="Fahkwang Light"/>
              </a:rPr>
              <a:t>Gaps in Existing Literature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7" name="Google Shape;206;p31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78" name="Google Shape;207;p31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sp>
        <p:nvSpPr>
          <p:cNvPr id="2" name="Content Placeholder 1"/>
          <p:cNvSpPr>
            <a:spLocks noGrp="1" noChangeArrowheads="1"/>
          </p:cNvSpPr>
          <p:nvPr>
            <p:ph/>
          </p:nvPr>
        </p:nvSpPr>
        <p:spPr bwMode="auto">
          <a:xfrm>
            <a:off x="228601" y="1260156"/>
            <a:ext cx="5482439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EHRs contain massive, critical clinical information, but over 80% is unstructured, making automated processing difficult.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extraction is slow, costly, and no longer scalable.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Conventional machine learning models fail to capture context, leading to poor accuracy.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552" y="301472"/>
            <a:ext cx="3400288" cy="4106008"/>
          </a:xfrm>
          <a:prstGeom prst="rect">
            <a:avLst/>
          </a:prstGeom>
        </p:spPr>
      </p:pic>
      <p:pic>
        <p:nvPicPr>
          <p:cNvPr id="7" name="Picture 6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02202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298"/>
    </mc:Choice>
    <mc:Fallback xmlns="">
      <p:transition spd="slow" advTm="392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206;p31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78" name="Google Shape;207;p31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sp>
        <p:nvSpPr>
          <p:cNvPr id="2" name="Content Placeholder 1"/>
          <p:cNvSpPr>
            <a:spLocks noGrp="1" noChangeArrowheads="1"/>
          </p:cNvSpPr>
          <p:nvPr>
            <p:ph/>
          </p:nvPr>
        </p:nvSpPr>
        <p:spPr bwMode="auto">
          <a:xfrm>
            <a:off x="136718" y="1237381"/>
            <a:ext cx="5384852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0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Traditional IE methods (rule-based, keyword search, basic NLP) struggle with</a:t>
            </a:r>
            <a:r>
              <a:rPr lang="en-US" altLang="en-US" sz="2000" dirty="0" smtClean="0">
                <a:latin typeface="Arial" panose="020B0604020202020204" pitchFamily="34" charset="0"/>
              </a:rPr>
              <a:t>:</a:t>
            </a:r>
          </a:p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Arial" panose="020B0604020202020204" pitchFamily="34" charset="0"/>
              </a:rPr>
              <a:t>complex medical terminology and abbreviations,</a:t>
            </a:r>
          </a:p>
          <a:p>
            <a:pPr marL="457200" lvl="0" indent="-457200" eaLnBrk="0" fontAlgn="base" hangingPunct="0">
              <a:lnSpc>
                <a:spcPct val="10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Arial" panose="020B0604020202020204" pitchFamily="34" charset="0"/>
              </a:rPr>
              <a:t>inconsistent clinical documentation across institutions,</a:t>
            </a:r>
          </a:p>
          <a:p>
            <a:pPr marL="457200" lvl="0" indent="-457200" eaLnBrk="0" fontAlgn="base" hangingPunct="0">
              <a:lnSpc>
                <a:spcPct val="100000"/>
              </a:lnSpc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Arial" panose="020B0604020202020204" pitchFamily="34" charset="0"/>
              </a:rPr>
              <a:t>high dependency on expert-crafted rules and large annotated datasets.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072723" y="886644"/>
            <a:ext cx="4561460" cy="2994293"/>
          </a:xfrm>
          <a:prstGeom prst="rect">
            <a:avLst/>
          </a:prstGeom>
        </p:spPr>
      </p:pic>
      <p:sp>
        <p:nvSpPr>
          <p:cNvPr id="7" name="PlaceHolder 1"/>
          <p:cNvSpPr txBox="1">
            <a:spLocks/>
          </p:cNvSpPr>
          <p:nvPr/>
        </p:nvSpPr>
        <p:spPr>
          <a:xfrm>
            <a:off x="319404" y="138860"/>
            <a:ext cx="501948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dirty="0" smtClean="0">
                <a:solidFill>
                  <a:schemeClr val="dk1"/>
                </a:solidFill>
                <a:latin typeface="Fahkwang Light"/>
              </a:rPr>
              <a:t>Gaps in Existing Literature</a:t>
            </a:r>
            <a:endParaRPr lang="fr-FR" sz="2600" dirty="0">
              <a:solidFill>
                <a:schemeClr val="dk1"/>
              </a:solidFill>
              <a:latin typeface="Arial"/>
            </a:endParaRPr>
          </a:p>
        </p:txBody>
      </p:sp>
      <p:pic>
        <p:nvPicPr>
          <p:cNvPr id="8" name="Picture 7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5615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319"/>
    </mc:Choice>
    <mc:Fallback xmlns="">
      <p:transition spd="slow" advTm="363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01948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Problem Statement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7" name="Google Shape;206;p31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78" name="Google Shape;207;p31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sp>
        <p:nvSpPr>
          <p:cNvPr id="2" name="Content Placeholder 1"/>
          <p:cNvSpPr>
            <a:spLocks noGrp="1" noChangeArrowheads="1"/>
          </p:cNvSpPr>
          <p:nvPr>
            <p:ph/>
          </p:nvPr>
        </p:nvSpPr>
        <p:spPr bwMode="auto">
          <a:xfrm>
            <a:off x="228600" y="1171076"/>
            <a:ext cx="527416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Electronic Health Records (EHRs) contain large amounts of critical clinical information, most of which exists as unstructured text. Extracting meaningful data from these free-text notes using traditional manual or rule-based methods is slow, error-prone, and not scalable. There is a need for an automated, accurate information extraction approach to convert unstructured EHR text into structured, usable clinical data.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1209"/>
          <a:stretch/>
        </p:blipFill>
        <p:spPr>
          <a:xfrm>
            <a:off x="5667831" y="184638"/>
            <a:ext cx="3182769" cy="4395154"/>
          </a:xfrm>
          <a:prstGeom prst="rect">
            <a:avLst/>
          </a:prstGeom>
        </p:spPr>
      </p:pic>
      <p:pic>
        <p:nvPicPr>
          <p:cNvPr id="7" name="Picture 6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9899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298"/>
    </mc:Choice>
    <mc:Fallback xmlns="">
      <p:transition spd="slow" advTm="352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01948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Research Questions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228600" y="844062"/>
            <a:ext cx="5200200" cy="348345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ea typeface="Atkinson Hyperlegible Next Light"/>
              </a:rPr>
              <a:t>RQ1: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dirty="0">
                <a:solidFill>
                  <a:schemeClr val="dk1"/>
                </a:solidFill>
                <a:ea typeface="Atkinson Hyperlegible Next Light"/>
              </a:rPr>
              <a:t>How can we automatically extract clinical information from electronic health records using deep learning</a:t>
            </a:r>
            <a:r>
              <a:rPr lang="en-US" sz="1800" dirty="0" smtClean="0">
                <a:solidFill>
                  <a:schemeClr val="dk1"/>
                </a:solidFill>
                <a:ea typeface="Atkinson Hyperlegible Next Light"/>
              </a:rPr>
              <a:t>?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800" dirty="0">
              <a:solidFill>
                <a:schemeClr val="dk1"/>
              </a:solidFill>
              <a:ea typeface="Atkinson Hyperlegible Next Ligh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  <a:ea typeface="Atkinson Hyperlegible Next Light"/>
              </a:rPr>
              <a:t>RQ2 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dirty="0">
                <a:solidFill>
                  <a:schemeClr val="dk1"/>
                </a:solidFill>
                <a:ea typeface="Atkinson Hyperlegible Next Light"/>
              </a:rPr>
              <a:t>How the proposed approach can outperform the existing methods in terms of </a:t>
            </a:r>
            <a:r>
              <a:rPr lang="en-US" sz="1800" dirty="0" smtClean="0">
                <a:solidFill>
                  <a:schemeClr val="dk1"/>
                </a:solidFill>
                <a:ea typeface="Atkinson Hyperlegible Next Light"/>
              </a:rPr>
              <a:t>F1-Score, </a:t>
            </a:r>
            <a:r>
              <a:rPr lang="en-US" sz="1800" dirty="0">
                <a:solidFill>
                  <a:schemeClr val="dk1"/>
                </a:solidFill>
                <a:ea typeface="Atkinson Hyperlegible Next Light"/>
              </a:rPr>
              <a:t>precision, and recall?</a:t>
            </a:r>
          </a:p>
        </p:txBody>
      </p:sp>
      <p:cxnSp>
        <p:nvCxnSpPr>
          <p:cNvPr id="97" name="Google Shape;206;p31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98" name="Google Shape;207;p31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631" y="228600"/>
            <a:ext cx="3695323" cy="4280607"/>
          </a:xfrm>
          <a:prstGeom prst="rect">
            <a:avLst/>
          </a:prstGeom>
        </p:spPr>
      </p:pic>
      <p:pic>
        <p:nvPicPr>
          <p:cNvPr id="7" name="Picture 6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6462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412"/>
    </mc:Choice>
    <mc:Fallback xmlns="">
      <p:transition spd="slow" advTm="244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212;p32"/>
          <p:cNvPicPr/>
          <p:nvPr/>
        </p:nvPicPr>
        <p:blipFill>
          <a:blip r:embed="rId2"/>
          <a:srcRect t="25373" b="25376"/>
          <a:stretch/>
        </p:blipFill>
        <p:spPr>
          <a:xfrm>
            <a:off x="0" y="0"/>
            <a:ext cx="9143640" cy="30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PlaceHolder 2"/>
          <p:cNvSpPr>
            <a:spLocks noGrp="1"/>
          </p:cNvSpPr>
          <p:nvPr>
            <p:ph type="title"/>
          </p:nvPr>
        </p:nvSpPr>
        <p:spPr>
          <a:xfrm>
            <a:off x="2104920" y="3324240"/>
            <a:ext cx="6562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Methodology</a:t>
            </a:r>
            <a:endParaRPr lang="fr-FR" sz="39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title"/>
          </p:nvPr>
        </p:nvSpPr>
        <p:spPr>
          <a:xfrm>
            <a:off x="380880" y="3219480"/>
            <a:ext cx="1266480" cy="126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Fahkwang Light"/>
              </a:rPr>
              <a:t>02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216;p32"/>
          <p:cNvSpPr/>
          <p:nvPr/>
        </p:nvSpPr>
        <p:spPr>
          <a:xfrm>
            <a:off x="4581360" y="0"/>
            <a:ext cx="4562280" cy="3076200"/>
          </a:xfrm>
          <a:prstGeom prst="rect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538280" rIns="870823080" bIns="153828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" name="Picture 7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67"/>
    </mc:Choice>
    <mc:Fallback xmlns="">
      <p:transition spd="slow" advTm="9867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2"/>
          <p:cNvSpPr>
            <a:spLocks noGrp="1"/>
          </p:cNvSpPr>
          <p:nvPr>
            <p:ph type="title"/>
          </p:nvPr>
        </p:nvSpPr>
        <p:spPr>
          <a:xfrm>
            <a:off x="3045697" y="-70338"/>
            <a:ext cx="6511541" cy="55391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Methodology</a:t>
            </a:r>
            <a:endParaRPr lang="fr-FR" sz="39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92" name="Google Shape;217;p32"/>
          <p:cNvCxnSpPr/>
          <p:nvPr/>
        </p:nvCxnSpPr>
        <p:spPr>
          <a:xfrm>
            <a:off x="610560" y="4705560"/>
            <a:ext cx="70884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6" name="Picture 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35"/>
          <a:stretch/>
        </p:blipFill>
        <p:spPr bwMode="auto">
          <a:xfrm>
            <a:off x="0" y="553916"/>
            <a:ext cx="8959362" cy="4510454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2125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150"/>
    </mc:Choice>
    <mc:Fallback xmlns="">
      <p:transition spd="slow" advTm="881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202;p31"/>
          <p:cNvPicPr/>
          <p:nvPr/>
        </p:nvPicPr>
        <p:blipFill>
          <a:blip r:embed="rId3"/>
          <a:srcRect l="1285" r="1285" b="9306"/>
          <a:stretch/>
        </p:blipFill>
        <p:spPr>
          <a:xfrm flipH="1">
            <a:off x="5716080" y="0"/>
            <a:ext cx="3427920" cy="46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01948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Dataset Description and Preprocessing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228600" y="1301262"/>
            <a:ext cx="5200200" cy="348345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0000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 smtClean="0">
                <a:solidFill>
                  <a:schemeClr val="dk1"/>
                </a:solidFill>
                <a:ea typeface="Atkinson Hyperlegible Next Light"/>
              </a:rPr>
              <a:t>Medical </a:t>
            </a:r>
            <a:r>
              <a:rPr lang="en-US" sz="1600" dirty="0">
                <a:solidFill>
                  <a:schemeClr val="dk1"/>
                </a:solidFill>
                <a:ea typeface="Atkinson Hyperlegible Next Light"/>
              </a:rPr>
              <a:t>Text for Text </a:t>
            </a:r>
            <a:r>
              <a:rPr lang="en-US" sz="1600" dirty="0" smtClean="0">
                <a:solidFill>
                  <a:schemeClr val="dk1"/>
                </a:solidFill>
                <a:ea typeface="Atkinson Hyperlegible Next Light"/>
              </a:rPr>
              <a:t>Classification : </a:t>
            </a:r>
            <a:r>
              <a:rPr lang="en-US" sz="1600" dirty="0">
                <a:solidFill>
                  <a:schemeClr val="dk1"/>
                </a:solidFill>
                <a:ea typeface="Atkinson Hyperlegible Next Light"/>
                <a:hlinkClick r:id="rId4"/>
              </a:rPr>
              <a:t>https://</a:t>
            </a:r>
            <a:r>
              <a:rPr lang="en-US" sz="1600" dirty="0" smtClean="0">
                <a:solidFill>
                  <a:schemeClr val="dk1"/>
                </a:solidFill>
                <a:ea typeface="Atkinson Hyperlegible Next Light"/>
                <a:hlinkClick r:id="rId4"/>
              </a:rPr>
              <a:t>www.kaggle.com/datasets/chaitanyakck/medical-text</a:t>
            </a:r>
            <a:endParaRPr lang="en-US" sz="1600" dirty="0" smtClean="0">
              <a:solidFill>
                <a:schemeClr val="dk1"/>
              </a:solidFill>
              <a:ea typeface="Atkinson Hyperlegible Next Ligh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600" dirty="0" smtClean="0">
              <a:solidFill>
                <a:schemeClr val="dk1"/>
              </a:solidFill>
              <a:ea typeface="Atkinson Hyperlegible Next Ligh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ea typeface="Atkinson Hyperlegible Next Light"/>
              </a:rPr>
              <a:t>We split the dataset into five parts and labeled them as Dataset1, Dataset2, Dataset3, Dataset4, and Dataset5. </a:t>
            </a:r>
            <a:endParaRPr lang="en-US" sz="1600" dirty="0" smtClean="0">
              <a:solidFill>
                <a:schemeClr val="dk1"/>
              </a:solidFill>
              <a:ea typeface="Atkinson Hyperlegible Next Ligh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600" b="0" u="none" strike="noStrike" dirty="0" smtClean="0">
              <a:solidFill>
                <a:schemeClr val="dk1"/>
              </a:solidFill>
              <a:effectLst/>
              <a:uFillTx/>
              <a:ea typeface="Atkinson Hyperlegible Next Ligh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ea typeface="Atkinson Hyperlegible Next Light"/>
              </a:rPr>
              <a:t>A</a:t>
            </a:r>
            <a:r>
              <a:rPr lang="en-US" sz="16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nnotated 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with multiple medical entity types like TEST, TREATMENT, SYMPTOM, CONDITION, and PROBLEM. </a:t>
            </a:r>
            <a:endParaRPr lang="en-US" sz="1600" b="0" u="none" strike="noStrike" dirty="0" smtClean="0">
              <a:solidFill>
                <a:schemeClr val="dk1"/>
              </a:solidFill>
              <a:effectLst/>
              <a:uFillTx/>
              <a:ea typeface="Atkinson Hyperlegible Next Ligh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600" b="0" u="none" strike="noStrike" dirty="0" smtClean="0">
              <a:solidFill>
                <a:schemeClr val="dk1"/>
              </a:solidFill>
              <a:effectLst/>
              <a:uFillTx/>
              <a:ea typeface="Atkinson Hyperlegible Next Ligh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Datasets 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were split 80/20 for training and </a:t>
            </a:r>
            <a:r>
              <a:rPr lang="en-US" sz="16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testing.</a:t>
            </a:r>
            <a:endParaRPr lang="fr-FR" sz="16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96" name="Google Shape;205;p31"/>
          <p:cNvSpPr/>
          <p:nvPr/>
        </p:nvSpPr>
        <p:spPr>
          <a:xfrm>
            <a:off x="5715000" y="0"/>
            <a:ext cx="1819080" cy="4667040"/>
          </a:xfrm>
          <a:prstGeom prst="rect">
            <a:avLst/>
          </a:prstGeom>
          <a:solidFill>
            <a:srgbClr val="FFFFFF">
              <a:alpha val="3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33520" rIns="870823080" bIns="233352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97" name="Google Shape;206;p31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98" name="Google Shape;207;p31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8" name="Picture 7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460"/>
    </mc:Choice>
    <mc:Fallback xmlns="">
      <p:transition spd="slow" advTm="36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121920" y="-65289"/>
            <a:ext cx="501948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Dataset </a:t>
            </a:r>
            <a:r>
              <a:rPr lang="en-US" sz="26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Records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97" name="Google Shape;206;p31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98" name="Google Shape;207;p31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545" y="813388"/>
            <a:ext cx="4659924" cy="3494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337233" y="4354546"/>
            <a:ext cx="308994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ptos"/>
                <a:ea typeface="Aptos"/>
                <a:cs typeface="Arial" panose="020B0604020202020204" pitchFamily="34" charset="0"/>
              </a:rPr>
              <a:t>Number of Records per Dataset.</a:t>
            </a:r>
            <a:endParaRPr kumimoji="0" lang="en-US" alt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9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54"/>
    </mc:Choice>
    <mc:Fallback xmlns="">
      <p:transition spd="slow" advTm="4254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01948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Dataset Description and Preprocessing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228600" y="1116623"/>
            <a:ext cx="5200200" cy="348345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Preprocessing tasks included: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Tokenization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 err="1">
                <a:solidFill>
                  <a:schemeClr val="dk1"/>
                </a:solidFill>
                <a:ea typeface="Atkinson Hyperlegible Next Light"/>
              </a:rPr>
              <a:t>S</a:t>
            </a:r>
            <a:r>
              <a:rPr lang="en-US" sz="1800" b="0" u="none" strike="noStrike" dirty="0" err="1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topword</a:t>
            </a:r>
            <a:r>
              <a:rPr lang="en-US" sz="18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 removal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chemeClr val="dk1"/>
                </a:solidFill>
                <a:ea typeface="Atkinson Hyperlegible Next Light"/>
              </a:rPr>
              <a:t>N</a:t>
            </a:r>
            <a:r>
              <a:rPr lang="en-US" sz="18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ormalization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Stemming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Lemmatization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chemeClr val="dk1"/>
                </a:solidFill>
                <a:ea typeface="Atkinson Hyperlegible Next Light"/>
              </a:rPr>
              <a:t>S</a:t>
            </a:r>
            <a:r>
              <a:rPr lang="en-US" sz="18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equence padding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>
                <a:solidFill>
                  <a:schemeClr val="dk1"/>
                </a:solidFill>
                <a:ea typeface="Atkinson Hyperlegible Next Light"/>
              </a:rPr>
              <a:t>F</a:t>
            </a:r>
            <a:r>
              <a:rPr lang="en-US" sz="18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eature encoding. </a:t>
            </a:r>
          </a:p>
        </p:txBody>
      </p:sp>
      <p:cxnSp>
        <p:nvCxnSpPr>
          <p:cNvPr id="97" name="Google Shape;206;p31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98" name="Google Shape;207;p31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369" y="106257"/>
            <a:ext cx="5147162" cy="4429743"/>
          </a:xfrm>
          <a:prstGeom prst="rect">
            <a:avLst/>
          </a:prstGeom>
        </p:spPr>
      </p:pic>
      <p:pic>
        <p:nvPicPr>
          <p:cNvPr id="7" name="Picture 6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43387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812"/>
    </mc:Choice>
    <mc:Fallback xmlns="">
      <p:transition spd="slow" advTm="208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288240" y="536331"/>
            <a:ext cx="556236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Model </a:t>
            </a:r>
            <a:r>
              <a:rPr lang="en-US" sz="34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Design</a:t>
            </a:r>
            <a:endParaRPr lang="fr-FR" sz="3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3191040" y="1581120"/>
            <a:ext cx="5562360" cy="25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The methodology comprises four phases: </a:t>
            </a:r>
            <a:endParaRPr lang="en-US" sz="2000" b="0" u="none" strike="noStrike" dirty="0" smtClean="0">
              <a:solidFill>
                <a:schemeClr val="dk1"/>
              </a:solidFill>
              <a:effectLst/>
              <a:uFillTx/>
              <a:ea typeface="Atkinson Hyperlegible Next Light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  <a:tabLst>
                <a:tab pos="0" algn="l"/>
              </a:tabLst>
            </a:pPr>
            <a:r>
              <a:rPr lang="en-US" sz="20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Data Preparation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  <a:tabLst>
                <a:tab pos="0" algn="l"/>
              </a:tabLst>
            </a:pPr>
            <a:r>
              <a:rPr lang="en-US" sz="20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Information Extraction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  <a:tabLst>
                <a:tab pos="0" algn="l"/>
              </a:tabLst>
            </a:pPr>
            <a:r>
              <a:rPr lang="en-US" sz="20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Prediction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  <a:tabLst>
                <a:tab pos="0" algn="l"/>
              </a:tabLst>
            </a:pPr>
            <a:r>
              <a:rPr lang="en-US" sz="20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Results</a:t>
            </a: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cxnSp>
        <p:nvCxnSpPr>
          <p:cNvPr id="101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102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863" r="3762"/>
          <a:stretch/>
        </p:blipFill>
        <p:spPr>
          <a:xfrm>
            <a:off x="0" y="301508"/>
            <a:ext cx="3127266" cy="4191361"/>
          </a:xfrm>
          <a:prstGeom prst="rect">
            <a:avLst/>
          </a:prstGeom>
        </p:spPr>
      </p:pic>
      <p:pic>
        <p:nvPicPr>
          <p:cNvPr id="7" name="Picture 6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17"/>
    </mc:Choice>
    <mc:Fallback xmlns="">
      <p:transition spd="slow" advTm="267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191040" y="0"/>
            <a:ext cx="556236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 err="1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BiLSTM</a:t>
            </a:r>
            <a:r>
              <a:rPr lang="en-US" sz="34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-based </a:t>
            </a: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NER and Runtime Context Identifier</a:t>
            </a:r>
            <a:endParaRPr lang="fr-FR" sz="3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3191040" y="1581119"/>
            <a:ext cx="5952960" cy="289416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The </a:t>
            </a:r>
            <a:r>
              <a:rPr lang="en-US" sz="1800" b="0" u="none" strike="noStrike" dirty="0" err="1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BiLSTM</a:t>
            </a:r>
            <a:r>
              <a:rPr lang="en-US" sz="18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-based NER model classifies medical entities using trained sequence models.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The RCI supplements this.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 smtClean="0">
                <a:solidFill>
                  <a:schemeClr val="dk1"/>
                </a:solidFill>
                <a:ea typeface="Atkinson Hyperlegible Next Light"/>
              </a:rPr>
              <a:t>It </a:t>
            </a:r>
            <a:r>
              <a:rPr lang="en-US" sz="18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detects the patterns that the NER model might miss.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cxnSp>
        <p:nvCxnSpPr>
          <p:cNvPr id="101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102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61446" y="1099238"/>
            <a:ext cx="4413521" cy="23385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028" y="2769577"/>
            <a:ext cx="457017" cy="113420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46213" y="2582841"/>
            <a:ext cx="568387" cy="113420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2981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592"/>
    </mc:Choice>
    <mc:Fallback xmlns="">
      <p:transition spd="slow" advTm="165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12670" y="277312"/>
            <a:ext cx="556236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Runtime </a:t>
            </a: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Context Identifier</a:t>
            </a:r>
            <a:endParaRPr lang="fr-FR" sz="3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272561" y="1327639"/>
            <a:ext cx="8792308" cy="371035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RCI is a rule-based </a:t>
            </a:r>
            <a:r>
              <a:rPr lang="en-US" sz="2000" dirty="0"/>
              <a:t>medical knowledge engine supporting the NER model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Provides real-time, context-aware identification of medical entities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Handles new rules dynamically at runtime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Extracts information for diseases, symptoms, tests, and treatments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Works independently of NER model training </a:t>
            </a:r>
            <a:r>
              <a:rPr lang="en-US" sz="2000" dirty="0" smtClean="0"/>
              <a:t>constraints</a:t>
            </a:r>
            <a:endParaRPr lang="en-US" sz="2000" dirty="0"/>
          </a:p>
        </p:txBody>
      </p:sp>
      <p:cxnSp>
        <p:nvCxnSpPr>
          <p:cNvPr id="101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102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6" name="Picture 5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766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805"/>
    </mc:Choice>
    <mc:Fallback xmlns="">
      <p:transition spd="slow" advTm="298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0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12669" y="154510"/>
            <a:ext cx="8142246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Runtime </a:t>
            </a: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Context </a:t>
            </a:r>
            <a:r>
              <a:rPr lang="en-US" sz="34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Identifier Working</a:t>
            </a:r>
            <a:endParaRPr lang="fr-FR" sz="3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01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102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015" y="849310"/>
            <a:ext cx="4372585" cy="17909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3" y="2739332"/>
            <a:ext cx="6220693" cy="1895740"/>
          </a:xfrm>
          <a:prstGeom prst="rect">
            <a:avLst/>
          </a:prstGeom>
        </p:spPr>
      </p:pic>
      <p:sp>
        <p:nvSpPr>
          <p:cNvPr id="9" name="PlaceHolder 2"/>
          <p:cNvSpPr txBox="1">
            <a:spLocks/>
          </p:cNvSpPr>
          <p:nvPr/>
        </p:nvSpPr>
        <p:spPr>
          <a:xfrm>
            <a:off x="324747" y="1006451"/>
            <a:ext cx="4071407" cy="17909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 smtClean="0">
                <a:solidFill>
                  <a:srgbClr val="000000"/>
                </a:solidFill>
              </a:rPr>
              <a:t>Run-time deployment allows the user to enter a sentence at runtime.</a:t>
            </a: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10" name="PlaceHolder 2"/>
          <p:cNvSpPr txBox="1">
            <a:spLocks/>
          </p:cNvSpPr>
          <p:nvPr/>
        </p:nvSpPr>
        <p:spPr>
          <a:xfrm>
            <a:off x="6394371" y="2811832"/>
            <a:ext cx="2749630" cy="17909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dirty="0" smtClean="0">
                <a:solidFill>
                  <a:srgbClr val="000000"/>
                </a:solidFill>
              </a:rPr>
              <a:t>RCI detects the word and provides its details</a:t>
            </a:r>
            <a:r>
              <a:rPr lang="en-US" sz="1800" dirty="0" smtClean="0">
                <a:solidFill>
                  <a:srgbClr val="000000"/>
                </a:solidFill>
                <a:latin typeface="OpenSymbol"/>
              </a:rPr>
              <a:t>.</a:t>
            </a:r>
            <a:endParaRPr lang="en-US" sz="1800" dirty="0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11" name="Picture 10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3882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350"/>
    </mc:Choice>
    <mc:Fallback xmlns="">
      <p:transition spd="slow" advTm="423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9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84638" y="147407"/>
            <a:ext cx="8568762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Experimental </a:t>
            </a:r>
            <a:r>
              <a:rPr lang="en-US" sz="34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Results</a:t>
            </a:r>
            <a:endParaRPr lang="fr-FR" sz="3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84638" y="1292469"/>
            <a:ext cx="8880230" cy="329711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Evaluated on five </a:t>
            </a:r>
            <a:r>
              <a:rPr lang="en-US" sz="18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datasets, the 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model achieved an average </a:t>
            </a:r>
            <a:endParaRPr lang="en-US" sz="1800" b="0" u="none" strike="noStrike" dirty="0" smtClean="0">
              <a:solidFill>
                <a:schemeClr val="dk1"/>
              </a:solidFill>
              <a:effectLst/>
              <a:uFillTx/>
              <a:ea typeface="Atkinson Hyperlegible Next Light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  <a:tabLst>
                <a:tab pos="0" algn="l"/>
              </a:tabLst>
            </a:pPr>
            <a:r>
              <a:rPr lang="en-US" sz="1800" b="1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F1-Score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of </a:t>
            </a:r>
            <a:r>
              <a:rPr lang="en-US" sz="1800" b="1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0.921</a:t>
            </a:r>
            <a:r>
              <a:rPr lang="en-US" sz="18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 </a:t>
            </a:r>
            <a:endParaRPr lang="en-US" sz="1800" b="0" u="none" strike="noStrike" dirty="0" smtClean="0">
              <a:solidFill>
                <a:schemeClr val="dk1"/>
              </a:solidFill>
              <a:effectLst/>
              <a:uFillTx/>
              <a:ea typeface="Atkinson Hyperlegible Next Light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  <a:tabLst>
                <a:tab pos="0" algn="l"/>
              </a:tabLst>
            </a:pPr>
            <a:r>
              <a:rPr lang="en-US" sz="1800" b="1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precision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of </a:t>
            </a:r>
            <a:r>
              <a:rPr lang="en-US" sz="1800" b="1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0.932</a:t>
            </a: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  <a:tabLst>
                <a:tab pos="0" algn="l"/>
              </a:tabLst>
            </a:pPr>
            <a:r>
              <a:rPr lang="en-US" sz="1800" b="1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recall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of </a:t>
            </a:r>
            <a:r>
              <a:rPr lang="en-US" sz="1800" b="1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0.921</a:t>
            </a:r>
            <a:r>
              <a:rPr lang="en-US" sz="18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. </a:t>
            </a:r>
            <a:endParaRPr lang="en-US" sz="1800" b="0" u="none" strike="noStrike" dirty="0" smtClean="0">
              <a:solidFill>
                <a:schemeClr val="dk1"/>
              </a:solidFill>
              <a:effectLst/>
              <a:uFillTx/>
              <a:ea typeface="Atkinson Hyperlegible Next Light"/>
            </a:endParaRPr>
          </a:p>
        </p:txBody>
      </p:sp>
      <p:cxnSp>
        <p:nvCxnSpPr>
          <p:cNvPr id="105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106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6" name="Picture 5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683"/>
    </mc:Choice>
    <mc:Fallback xmlns="">
      <p:transition spd="slow" advTm="366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0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1546" y="147407"/>
            <a:ext cx="9086414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Experimental </a:t>
            </a:r>
            <a:r>
              <a:rPr lang="en-US" sz="34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Results</a:t>
            </a:r>
            <a:endParaRPr lang="fr-FR" sz="3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05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106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6" y="1000469"/>
            <a:ext cx="4321427" cy="257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277" y="1000469"/>
            <a:ext cx="4321427" cy="257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752" y="3736731"/>
            <a:ext cx="89469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ptos"/>
                <a:ea typeface="Aptos"/>
                <a:cs typeface="Arial" panose="020B0604020202020204" pitchFamily="34" charset="0"/>
              </a:rPr>
              <a:t>     Evaluation </a:t>
            </a:r>
            <a:r>
              <a:rPr lang="en-US" dirty="0">
                <a:latin typeface="Aptos"/>
                <a:ea typeface="Aptos"/>
                <a:cs typeface="Arial" panose="020B0604020202020204" pitchFamily="34" charset="0"/>
              </a:rPr>
              <a:t>Metrics of Dataset 1                </a:t>
            </a:r>
            <a:r>
              <a:rPr lang="en-US" dirty="0" smtClean="0">
                <a:latin typeface="Aptos"/>
                <a:ea typeface="Aptos"/>
                <a:cs typeface="Arial" panose="020B0604020202020204" pitchFamily="34" charset="0"/>
              </a:rPr>
              <a:t>           Evaluation </a:t>
            </a:r>
            <a:r>
              <a:rPr lang="en-US" dirty="0">
                <a:latin typeface="Aptos"/>
                <a:ea typeface="Aptos"/>
                <a:cs typeface="Arial" panose="020B0604020202020204" pitchFamily="34" charset="0"/>
              </a:rPr>
              <a:t>Metrics of Dataset 2</a:t>
            </a:r>
            <a:endParaRPr lang="en-US" dirty="0"/>
          </a:p>
        </p:txBody>
      </p:sp>
      <p:pic>
        <p:nvPicPr>
          <p:cNvPr id="8" name="Picture 7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1525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50"/>
    </mc:Choice>
    <mc:Fallback xmlns="">
      <p:transition spd="slow" advTm="176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1546" y="147407"/>
            <a:ext cx="9086414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Experimental </a:t>
            </a:r>
            <a:r>
              <a:rPr lang="en-US" sz="34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Results</a:t>
            </a:r>
            <a:endParaRPr lang="fr-FR" sz="3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05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106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6" y="1000469"/>
            <a:ext cx="4321426" cy="257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277" y="1000469"/>
            <a:ext cx="4321426" cy="257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752" y="3736731"/>
            <a:ext cx="89469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ptos"/>
                <a:ea typeface="Aptos"/>
                <a:cs typeface="Arial" panose="020B0604020202020204" pitchFamily="34" charset="0"/>
              </a:rPr>
              <a:t>     Evaluation </a:t>
            </a:r>
            <a:r>
              <a:rPr lang="en-US" dirty="0">
                <a:latin typeface="Aptos"/>
                <a:ea typeface="Aptos"/>
                <a:cs typeface="Arial" panose="020B0604020202020204" pitchFamily="34" charset="0"/>
              </a:rPr>
              <a:t>Metrics of Dataset </a:t>
            </a:r>
            <a:r>
              <a:rPr lang="en-US" dirty="0" smtClean="0">
                <a:latin typeface="Aptos"/>
                <a:ea typeface="Aptos"/>
                <a:cs typeface="Arial" panose="020B0604020202020204" pitchFamily="34" charset="0"/>
              </a:rPr>
              <a:t>3                           Evaluation </a:t>
            </a:r>
            <a:r>
              <a:rPr lang="en-US" dirty="0">
                <a:latin typeface="Aptos"/>
                <a:ea typeface="Aptos"/>
                <a:cs typeface="Arial" panose="020B0604020202020204" pitchFamily="34" charset="0"/>
              </a:rPr>
              <a:t>Metrics of Dataset </a:t>
            </a:r>
            <a:r>
              <a:rPr lang="en-US" dirty="0" smtClean="0">
                <a:latin typeface="Aptos"/>
                <a:ea typeface="Aptos"/>
                <a:cs typeface="Arial" panose="020B0604020202020204" pitchFamily="34" charset="0"/>
              </a:rPr>
              <a:t>4</a:t>
            </a:r>
            <a:endParaRPr lang="en-US" dirty="0"/>
          </a:p>
        </p:txBody>
      </p:sp>
      <p:pic>
        <p:nvPicPr>
          <p:cNvPr id="8" name="Picture 7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0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7"/>
    </mc:Choice>
    <mc:Fallback xmlns="">
      <p:transition spd="slow" advTm="1257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1546" y="147407"/>
            <a:ext cx="9086414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Experimental </a:t>
            </a:r>
            <a:r>
              <a:rPr lang="en-US" sz="34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Results</a:t>
            </a:r>
            <a:endParaRPr lang="fr-FR" sz="3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05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106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738" y="926402"/>
            <a:ext cx="4321426" cy="25779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78200" y="3715128"/>
            <a:ext cx="40205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ptos"/>
                <a:ea typeface="Aptos"/>
                <a:cs typeface="Arial" panose="020B0604020202020204" pitchFamily="34" charset="0"/>
              </a:rPr>
              <a:t>     Evaluation </a:t>
            </a:r>
            <a:r>
              <a:rPr lang="en-US" dirty="0">
                <a:latin typeface="Aptos"/>
                <a:ea typeface="Aptos"/>
                <a:cs typeface="Arial" panose="020B0604020202020204" pitchFamily="34" charset="0"/>
              </a:rPr>
              <a:t>Metrics of Dataset 5</a:t>
            </a:r>
            <a:endParaRPr lang="en-US" dirty="0"/>
          </a:p>
        </p:txBody>
      </p:sp>
      <p:pic>
        <p:nvPicPr>
          <p:cNvPr id="7" name="Picture 6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5824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0"/>
    </mc:Choice>
    <mc:Fallback xmlns="">
      <p:transition spd="slow" advTm="19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1546" y="147407"/>
            <a:ext cx="9086414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Experimental </a:t>
            </a:r>
            <a:r>
              <a:rPr lang="en-US" sz="34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Results</a:t>
            </a:r>
            <a:endParaRPr lang="fr-FR" sz="3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05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106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sp>
        <p:nvSpPr>
          <p:cNvPr id="4" name="Rectangle 3"/>
          <p:cNvSpPr/>
          <p:nvPr/>
        </p:nvSpPr>
        <p:spPr>
          <a:xfrm>
            <a:off x="429676" y="4038148"/>
            <a:ext cx="93385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Comparison of </a:t>
            </a:r>
            <a:r>
              <a:rPr lang="en-US" dirty="0" smtClean="0"/>
              <a:t>F1-Score, </a:t>
            </a:r>
            <a:r>
              <a:rPr lang="en-US" dirty="0"/>
              <a:t>Precision, and Recall of 5 Datasets and their Average.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126817"/>
              </p:ext>
            </p:extLst>
          </p:nvPr>
        </p:nvGraphicFramePr>
        <p:xfrm>
          <a:off x="429675" y="947715"/>
          <a:ext cx="8420924" cy="29560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24528">
                  <a:extLst>
                    <a:ext uri="{9D8B030D-6E8A-4147-A177-3AD203B41FA5}">
                      <a16:colId xmlns:a16="http://schemas.microsoft.com/office/drawing/2014/main" val="3128374976"/>
                    </a:ext>
                  </a:extLst>
                </a:gridCol>
                <a:gridCol w="1864227">
                  <a:extLst>
                    <a:ext uri="{9D8B030D-6E8A-4147-A177-3AD203B41FA5}">
                      <a16:colId xmlns:a16="http://schemas.microsoft.com/office/drawing/2014/main" val="938888347"/>
                    </a:ext>
                  </a:extLst>
                </a:gridCol>
                <a:gridCol w="1878148">
                  <a:extLst>
                    <a:ext uri="{9D8B030D-6E8A-4147-A177-3AD203B41FA5}">
                      <a16:colId xmlns:a16="http://schemas.microsoft.com/office/drawing/2014/main" val="2470511636"/>
                    </a:ext>
                  </a:extLst>
                </a:gridCol>
                <a:gridCol w="1754021">
                  <a:extLst>
                    <a:ext uri="{9D8B030D-6E8A-4147-A177-3AD203B41FA5}">
                      <a16:colId xmlns:a16="http://schemas.microsoft.com/office/drawing/2014/main" val="818039945"/>
                    </a:ext>
                  </a:extLst>
                </a:gridCol>
              </a:tblGrid>
              <a:tr h="4222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Dataset</a:t>
                      </a:r>
                      <a:endParaRPr lang="en-US" sz="180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F1-Score</a:t>
                      </a:r>
                      <a:endParaRPr lang="en-US" sz="2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Precision</a:t>
                      </a:r>
                      <a:endParaRPr lang="en-US" sz="2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Recall</a:t>
                      </a:r>
                      <a:endParaRPr lang="en-US" sz="2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3720862"/>
                  </a:ext>
                </a:extLst>
              </a:tr>
              <a:tr h="4222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1</a:t>
                      </a:r>
                      <a:endParaRPr lang="en-US" sz="180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0.91</a:t>
                      </a:r>
                      <a:endParaRPr lang="en-US" sz="11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0.92</a:t>
                      </a:r>
                      <a:endParaRPr lang="en-US" sz="11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0.91</a:t>
                      </a:r>
                      <a:endParaRPr lang="en-US" sz="11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969309"/>
                  </a:ext>
                </a:extLst>
              </a:tr>
              <a:tr h="4222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2</a:t>
                      </a:r>
                      <a:endParaRPr lang="en-US" sz="18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0.91</a:t>
                      </a:r>
                      <a:endParaRPr lang="en-US" sz="11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0.91</a:t>
                      </a:r>
                      <a:endParaRPr lang="en-US" sz="11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0.91</a:t>
                      </a:r>
                      <a:endParaRPr lang="en-US" sz="11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724937"/>
                  </a:ext>
                </a:extLst>
              </a:tr>
              <a:tr h="4222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3</a:t>
                      </a:r>
                      <a:endParaRPr lang="en-US" sz="180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0.94</a:t>
                      </a:r>
                      <a:endParaRPr lang="en-US" sz="11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0.94</a:t>
                      </a:r>
                      <a:endParaRPr lang="en-US" sz="11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0.94</a:t>
                      </a:r>
                      <a:endParaRPr lang="en-US" sz="11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5858675"/>
                  </a:ext>
                </a:extLst>
              </a:tr>
              <a:tr h="4222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4</a:t>
                      </a:r>
                      <a:endParaRPr lang="en-US" sz="180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0.88</a:t>
                      </a:r>
                      <a:endParaRPr lang="en-US" sz="11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0.89</a:t>
                      </a:r>
                      <a:endParaRPr lang="en-US" sz="11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0.88</a:t>
                      </a:r>
                      <a:endParaRPr lang="en-US" sz="11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4820164"/>
                  </a:ext>
                </a:extLst>
              </a:tr>
              <a:tr h="4222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5</a:t>
                      </a:r>
                      <a:endParaRPr lang="en-US" sz="1800" kern="1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0.95</a:t>
                      </a:r>
                      <a:endParaRPr lang="en-US" sz="11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0.95</a:t>
                      </a:r>
                      <a:endParaRPr lang="en-US" sz="11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0.95</a:t>
                      </a:r>
                      <a:endParaRPr lang="en-US" sz="11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9439096"/>
                  </a:ext>
                </a:extLst>
              </a:tr>
              <a:tr h="4222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Average(1-5)</a:t>
                      </a:r>
                      <a:endParaRPr lang="en-US" sz="18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 smtClean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0.921</a:t>
                      </a:r>
                      <a:endParaRPr lang="en-US" sz="11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0.932</a:t>
                      </a:r>
                      <a:endParaRPr lang="en-US" sz="11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0" dirty="0" smtClean="0">
                          <a:solidFill>
                            <a:srgbClr val="000000"/>
                          </a:solidFill>
                          <a:effectLst/>
                          <a:latin typeface="Aptos"/>
                          <a:ea typeface="SimSun" panose="02010600030101010101" pitchFamily="2" charset="-122"/>
                          <a:cs typeface="Calibri" panose="020F0502020204030204" pitchFamily="34" charset="0"/>
                        </a:rPr>
                        <a:t>0.921</a:t>
                      </a:r>
                      <a:endParaRPr lang="en-US" sz="11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3050967"/>
                  </a:ext>
                </a:extLst>
              </a:tr>
            </a:tbl>
          </a:graphicData>
        </a:graphic>
      </p:graphicFrame>
      <p:pic>
        <p:nvPicPr>
          <p:cNvPr id="7" name="Picture 6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364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48"/>
    </mc:Choice>
    <mc:Fallback xmlns="">
      <p:transition spd="slow" advTm="139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1546" y="147407"/>
            <a:ext cx="9086414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dirty="0" smtClean="0">
                <a:solidFill>
                  <a:schemeClr val="dk1"/>
                </a:solidFill>
                <a:latin typeface="Fahkwang Light"/>
                <a:ea typeface="Fahkwang Light"/>
              </a:rPr>
              <a:t>Comparison </a:t>
            </a:r>
            <a:r>
              <a:rPr lang="en-US" sz="2800" dirty="0">
                <a:solidFill>
                  <a:schemeClr val="dk1"/>
                </a:solidFill>
                <a:latin typeface="Fahkwang Light"/>
                <a:ea typeface="Fahkwang Light"/>
              </a:rPr>
              <a:t>of the performance metrics of a few representative </a:t>
            </a:r>
            <a:r>
              <a:rPr lang="en-US" sz="2800" dirty="0" smtClean="0">
                <a:solidFill>
                  <a:schemeClr val="dk1"/>
                </a:solidFill>
                <a:latin typeface="Fahkwang Light"/>
                <a:ea typeface="Fahkwang Light"/>
              </a:rPr>
              <a:t>approaches datasets used.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05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106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753965"/>
              </p:ext>
            </p:extLst>
          </p:nvPr>
        </p:nvGraphicFramePr>
        <p:xfrm>
          <a:off x="453948" y="1066864"/>
          <a:ext cx="8396652" cy="40967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2468">
                  <a:extLst>
                    <a:ext uri="{9D8B030D-6E8A-4147-A177-3AD203B41FA5}">
                      <a16:colId xmlns:a16="http://schemas.microsoft.com/office/drawing/2014/main" val="690374586"/>
                    </a:ext>
                  </a:extLst>
                </a:gridCol>
                <a:gridCol w="2031023">
                  <a:extLst>
                    <a:ext uri="{9D8B030D-6E8A-4147-A177-3AD203B41FA5}">
                      <a16:colId xmlns:a16="http://schemas.microsoft.com/office/drawing/2014/main" val="46956099"/>
                    </a:ext>
                  </a:extLst>
                </a:gridCol>
                <a:gridCol w="1802423">
                  <a:extLst>
                    <a:ext uri="{9D8B030D-6E8A-4147-A177-3AD203B41FA5}">
                      <a16:colId xmlns:a16="http://schemas.microsoft.com/office/drawing/2014/main" val="2177781680"/>
                    </a:ext>
                  </a:extLst>
                </a:gridCol>
                <a:gridCol w="1556238">
                  <a:extLst>
                    <a:ext uri="{9D8B030D-6E8A-4147-A177-3AD203B41FA5}">
                      <a16:colId xmlns:a16="http://schemas.microsoft.com/office/drawing/2014/main" val="233354811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35649758"/>
                    </a:ext>
                  </a:extLst>
                </a:gridCol>
              </a:tblGrid>
              <a:tr h="2060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Paper</a:t>
                      </a:r>
                      <a:endParaRPr lang="en-US" sz="2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Dataset</a:t>
                      </a:r>
                      <a:endParaRPr lang="en-US" sz="2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F1-Score</a:t>
                      </a:r>
                      <a:endParaRPr lang="en-US" sz="2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Precision</a:t>
                      </a:r>
                      <a:endParaRPr lang="en-US" sz="2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Recall</a:t>
                      </a:r>
                      <a:endParaRPr lang="en-US" sz="2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49182270"/>
                  </a:ext>
                </a:extLst>
              </a:tr>
              <a:tr h="126773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[</a:t>
                      </a:r>
                      <a:r>
                        <a:rPr lang="en-US" sz="1800" b="1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16]</a:t>
                      </a:r>
                      <a:endParaRPr lang="en-US" sz="2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Dataset1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Dataset2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Dataset3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Dataset4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Dataset5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0.701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0.712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0.704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0.711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0.732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0.692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0.696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0.752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0.723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0.771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0.676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0.411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0.454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0.432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0.443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0.410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7652191"/>
                  </a:ext>
                </a:extLst>
              </a:tr>
              <a:tr h="126773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[</a:t>
                      </a:r>
                      <a:r>
                        <a:rPr lang="en-US" sz="1800" b="1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20]</a:t>
                      </a:r>
                      <a:endParaRPr lang="en-US" sz="2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Dataset1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Dataset2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Dataset3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Dataset4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Dataset5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0.711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0.732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0.752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0.723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0.733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0.745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0.657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0.725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0.712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0.735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0.713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0.662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0.729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0.719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0.742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0.718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5596205"/>
                  </a:ext>
                </a:extLst>
              </a:tr>
              <a:tr h="126773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[</a:t>
                      </a:r>
                      <a:r>
                        <a:rPr lang="en-US" sz="1800" b="1" kern="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21]</a:t>
                      </a:r>
                      <a:endParaRPr lang="en-US" sz="2400" kern="1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Dataset1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Dataset2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Dataset3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Dataset4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Dataset5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0.686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0.676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0.652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0.677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0.645</a:t>
                      </a:r>
                      <a:endParaRPr lang="en-US" sz="1600" kern="10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0.657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0.725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0.712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0.735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0.725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0.662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0.729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0.719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300"/>
                        </a:spcAft>
                        <a:tabLst>
                          <a:tab pos="647700" algn="l"/>
                        </a:tabLs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0.712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Arial" panose="020B0604020202020204" pitchFamily="34" charset="0"/>
                        </a:rPr>
                        <a:t>0.729</a:t>
                      </a:r>
                      <a:endParaRPr lang="en-US" sz="1600" kern="100" dirty="0">
                        <a:effectLst/>
                        <a:latin typeface="Aptos"/>
                        <a:ea typeface="Aptos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8610895"/>
                  </a:ext>
                </a:extLst>
              </a:tr>
            </a:tbl>
          </a:graphicData>
        </a:graphic>
      </p:graphicFrame>
      <p:pic>
        <p:nvPicPr>
          <p:cNvPr id="6" name="Picture 5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022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29"/>
    </mc:Choice>
    <mc:Fallback xmlns="">
      <p:transition spd="slow" advTm="20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191040" y="885960"/>
            <a:ext cx="556236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Conclusions</a:t>
            </a:r>
            <a:endParaRPr lang="fr-FR" sz="3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3191040" y="1581120"/>
            <a:ext cx="5562360" cy="25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The proposed </a:t>
            </a:r>
            <a:r>
              <a:rPr lang="en-US" sz="1600" b="0" u="none" strike="noStrike" dirty="0" err="1">
                <a:solidFill>
                  <a:schemeClr val="dk1"/>
                </a:solidFill>
                <a:effectLst/>
                <a:uFillTx/>
                <a:ea typeface="Atkinson Hyperlegible Next Light"/>
              </a:rPr>
              <a:t>BiLSTM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-NER with Runtime Context Identifier effectively automates structured information extraction from unstructured EHRs. </a:t>
            </a:r>
            <a:endParaRPr lang="en-US" sz="1600" b="0" u="none" strike="noStrike" dirty="0" smtClean="0">
              <a:solidFill>
                <a:schemeClr val="dk1"/>
              </a:solidFill>
              <a:effectLst/>
              <a:uFillTx/>
              <a:ea typeface="Atkinson Hyperlegible Next Ligh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The 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model’s strong performance across heterogeneous datasets confirms its clinical applicability for real-time decision support.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cxnSp>
        <p:nvCxnSpPr>
          <p:cNvPr id="109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110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592"/>
            <a:ext cx="3192017" cy="4406031"/>
          </a:xfrm>
          <a:prstGeom prst="rect">
            <a:avLst/>
          </a:prstGeom>
        </p:spPr>
      </p:pic>
      <p:pic>
        <p:nvPicPr>
          <p:cNvPr id="7" name="Picture 6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86"/>
    </mc:Choice>
    <mc:Fallback xmlns="">
      <p:transition spd="slow" advTm="241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08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3191040" y="885960"/>
            <a:ext cx="556236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Future Work</a:t>
            </a:r>
            <a:endParaRPr lang="fr-FR" sz="3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3191040" y="1581120"/>
            <a:ext cx="5562360" cy="254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0000"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Future work will focus on enhancing preprocessing, augmenting data, and integrating domain knowledge to improve accuracy, generalizability, and interpretability in clinical settings.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 smtClean="0">
                <a:solidFill>
                  <a:schemeClr val="dk1"/>
                </a:solidFill>
                <a:ea typeface="Atkinson Hyperlegible Next Light"/>
              </a:rPr>
              <a:t>Real-Time Deployment Application.</a:t>
            </a:r>
            <a:endParaRPr lang="en-US" sz="1600" b="0" u="none" strike="noStrike" dirty="0" smtClean="0">
              <a:solidFill>
                <a:schemeClr val="dk1"/>
              </a:solidFill>
              <a:effectLst/>
              <a:uFillTx/>
              <a:ea typeface="Atkinson Hyperlegible Next Ligh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ea typeface="Atkinson Hyperlegible Next Light"/>
              </a:rPr>
              <a:t>T</a:t>
            </a:r>
            <a:r>
              <a:rPr lang="en-US" sz="1600" b="0" u="none" strike="noStrike" dirty="0" smtClean="0">
                <a:solidFill>
                  <a:schemeClr val="dk1"/>
                </a:solidFill>
                <a:effectLst/>
                <a:uFillTx/>
                <a:ea typeface="Atkinson Hyperlegible Next Light"/>
              </a:rPr>
              <a:t>he unbalanced datasets can be used to review the changes in results.</a:t>
            </a:r>
            <a:endParaRPr lang="en-US" sz="1600" b="0" u="none" strike="noStrike" dirty="0">
              <a:solidFill>
                <a:schemeClr val="dk1"/>
              </a:solidFill>
              <a:effectLst/>
              <a:uFillTx/>
              <a:ea typeface="Atkinson Hyperlegible Next Light"/>
            </a:endParaRPr>
          </a:p>
        </p:txBody>
      </p:sp>
      <p:cxnSp>
        <p:nvCxnSpPr>
          <p:cNvPr id="109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110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6" y="579170"/>
            <a:ext cx="3160101" cy="3814990"/>
          </a:xfrm>
          <a:prstGeom prst="rect">
            <a:avLst/>
          </a:prstGeom>
        </p:spPr>
      </p:pic>
      <p:pic>
        <p:nvPicPr>
          <p:cNvPr id="7" name="Picture 6" descr="A blue circle with yellow and white text&#10;&#10;AI-generated content may be incorrect.">
            <a:extLst>
              <a:ext uri="{FF2B5EF4-FFF2-40B4-BE49-F238E27FC236}">
                <a16:creationId xmlns:a16="http://schemas.microsoft.com/office/drawing/2014/main" id="{30E9894D-77E6-77F6-B397-24BF495BBEF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13" y="-6436"/>
            <a:ext cx="936773" cy="920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053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806"/>
    </mc:Choice>
    <mc:Fallback xmlns="">
      <p:transition spd="slow" advTm="268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08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212;p3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" y="1188757"/>
            <a:ext cx="9143640" cy="3012858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52784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7"/>
    </mc:Choice>
    <mc:Fallback xmlns="">
      <p:transition spd="slow" advTm="897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212;p3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2" y="307731"/>
            <a:ext cx="9038492" cy="4325815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172480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1"/>
    </mc:Choice>
    <mc:Fallback xmlns="">
      <p:transition spd="slow" advTm="1911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933640" y="94652"/>
            <a:ext cx="556236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REFERENCES</a:t>
            </a:r>
            <a:endParaRPr lang="fr-FR" sz="3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280786" y="649134"/>
            <a:ext cx="8757705" cy="394924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20000"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[1]	L.E.K. Consulting: healthcare data projected between 2,300 and 10,800 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exabytes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 by 2025. </a:t>
            </a:r>
            <a:endParaRPr lang="en-US" sz="1600" dirty="0" smtClean="0">
              <a:solidFill>
                <a:schemeClr val="dk1"/>
              </a:solidFill>
              <a:latin typeface="Atkinson Hyperlegible Next Light"/>
              <a:ea typeface="Atkinson Hyperlegible Next Ligh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 smtClean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[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2]	Study: Physicians spend ~35% of their time documenting patient </a:t>
            </a:r>
            <a:r>
              <a:rPr lang="en-US" sz="1600" dirty="0" smtClean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data.</a:t>
            </a:r>
            <a:endParaRPr lang="en-US" sz="1600" dirty="0">
              <a:solidFill>
                <a:schemeClr val="dk1"/>
              </a:solidFill>
              <a:latin typeface="Atkinson Hyperlegible Next Light"/>
              <a:ea typeface="Atkinson Hyperlegible Next Ligh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 smtClean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[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3</a:t>
            </a:r>
            <a:r>
              <a:rPr lang="en-US" sz="1600" dirty="0" smtClean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]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	In clinical NLP, deep learning (e.g. RNNs) outperform traditional models (like CRFs) in NER </a:t>
            </a:r>
            <a:r>
              <a:rPr lang="en-US" sz="1600" dirty="0" smtClean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tasks.</a:t>
            </a:r>
            <a:endParaRPr lang="en-US" sz="1600" dirty="0">
              <a:solidFill>
                <a:schemeClr val="dk1"/>
              </a:solidFill>
              <a:latin typeface="Atkinson Hyperlegible Next Light"/>
              <a:ea typeface="Atkinson Hyperlegible Next Ligh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 smtClean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[4]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	H. Ying and S. Yu, “A Question Answering Based Pipeline for Comprehensive Chinese EHR Information Extraction,” 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arXiv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 preprint arXiv:2402.11177, 2024, [Online]. Available: http://arxiv.org/abs/2402.11177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 smtClean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[5]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	S. Jain et al., “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RadGraph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: Extracting Clinical Entities and Relations from Radiology Reports,” 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CoRR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, vol. abs/2106.14463, 2021, [Online]. Available: 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  <a:hlinkClick r:id="rId2"/>
              </a:rPr>
              <a:t>https://</a:t>
            </a:r>
            <a:r>
              <a:rPr lang="en-US" sz="1600" dirty="0" smtClean="0">
                <a:solidFill>
                  <a:schemeClr val="dk1"/>
                </a:solidFill>
                <a:latin typeface="Atkinson Hyperlegible Next Light"/>
                <a:ea typeface="Atkinson Hyperlegible Next Light"/>
                <a:hlinkClick r:id="rId2"/>
              </a:rPr>
              <a:t>arxiv.org/abs/2106.14463</a:t>
            </a:r>
            <a:r>
              <a:rPr lang="en-US" sz="1600" dirty="0" smtClean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 smtClean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[6]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	A. Dada, T. L. 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Ufer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, M. Kim, and others, “Information extraction from weakly structured radiological reports with natural language queries,” 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Eur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Radiol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, vol. 34, pp. 330–337, 2024, 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doi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: 10.1007/s00330-023-09977-3.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600" dirty="0">
              <a:solidFill>
                <a:schemeClr val="dk1"/>
              </a:solidFill>
              <a:latin typeface="Atkinson Hyperlegible Next Light"/>
              <a:ea typeface="Atkinson Hyperlegible Next Ligh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600" dirty="0">
              <a:solidFill>
                <a:schemeClr val="dk1"/>
              </a:solidFill>
              <a:latin typeface="Atkinson Hyperlegible Next Light"/>
              <a:ea typeface="Atkinson Hyperlegible Next Light"/>
            </a:endParaRPr>
          </a:p>
        </p:txBody>
      </p:sp>
      <p:cxnSp>
        <p:nvCxnSpPr>
          <p:cNvPr id="109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110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2312660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7"/>
    </mc:Choice>
    <mc:Fallback xmlns="">
      <p:transition spd="slow" advTm="667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933640" y="94652"/>
            <a:ext cx="556236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 dirty="0" smtClean="0">
                <a:solidFill>
                  <a:schemeClr val="dk1"/>
                </a:solidFill>
                <a:effectLst/>
                <a:uFillTx/>
                <a:latin typeface="Fahkwang Light"/>
                <a:ea typeface="Fahkwang Light"/>
              </a:rPr>
              <a:t>REFERENCES</a:t>
            </a:r>
            <a:endParaRPr lang="fr-FR" sz="3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280786" y="649134"/>
            <a:ext cx="8757705" cy="394924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20000"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 smtClean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[7]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	I. C. Wiest et al., “From Text to Tables: A Local Privacy Preserving Large Language Model for Structured Information Retrieval from Medical Documents,” 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medRxiv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, 2023, 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doi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: 10.1101/2023.12.07.23299648.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 smtClean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[8]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	D. Liu et al., “Evaluation of General Large Language Models in Contextually Assessing Semantic Concepts Extracted from Adult Critical Care Electronic Health Record Notes,” 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arXiv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 preprint arXiv:2401.13588, 2024, [Online]. Available: http://arxiv.org/abs/2401.13588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 smtClean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[9]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	S. Han et al., “Classifying social determinants of health from unstructured electronic health records using deep learning-based natural language processing,” J Biomed Inform, vol. 127, p. 103984, 2022, 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doi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: 10.1016/j.jbi.2021.103984.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 smtClean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[10]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	J. Song and others, “Local–Global Memory Neural Network for Medication Prediction,” IEEE Trans Neural 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Netw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 Learn 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Syst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, vol. 32, no. 4, pp. 1723–1736, 2021, 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doi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: 10.1109/TNNLS.2020.2989364.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 smtClean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[11]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	H. J. Park, D. Y. Jung, W. Ji, and C.-M. Choi, “Detection of Bacteremia in Surgical 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InPatients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 Using Recurrent Neural Network Based on Time Series Records: Development and Validation Study,” J Med Internet Res, vol. 22, no. 8, p. e19512, 2020, 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doi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: 10.2196/19512.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dirty="0" smtClean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[12]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	J. Luo, M. Ye, C. Xiao, and F. Ma, “</a:t>
            </a:r>
            <a:r>
              <a:rPr lang="en-US" sz="1600" dirty="0" err="1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HiTANet</a:t>
            </a:r>
            <a:r>
              <a:rPr lang="en-US" sz="1600" dirty="0">
                <a:solidFill>
                  <a:schemeClr val="dk1"/>
                </a:solidFill>
                <a:latin typeface="Atkinson Hyperlegible Next Light"/>
                <a:ea typeface="Atkinson Hyperlegible Next Light"/>
              </a:rPr>
              <a:t>: Hierarchical Time-Aware Attention Networks for Risk Prediction on Electronic Health Records,” in Proceedings of the 26th ACM SIGKDD International Conference on Knowledge Discovery &amp; Data Mining, 2020.</a:t>
            </a:r>
          </a:p>
        </p:txBody>
      </p:sp>
      <p:cxnSp>
        <p:nvCxnSpPr>
          <p:cNvPr id="109" name="Google Shape;224;p33"/>
          <p:cNvCxnSpPr/>
          <p:nvPr/>
        </p:nvCxnSpPr>
        <p:spPr>
          <a:xfrm>
            <a:off x="-5400" y="4664520"/>
            <a:ext cx="915336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</a:ln>
        </p:spPr>
      </p:cxnSp>
      <p:cxnSp>
        <p:nvCxnSpPr>
          <p:cNvPr id="110" name="Google Shape;225;p33"/>
          <p:cNvCxnSpPr/>
          <p:nvPr/>
        </p:nvCxnSpPr>
        <p:spPr>
          <a:xfrm>
            <a:off x="8141400" y="4921920"/>
            <a:ext cx="709200" cy="360"/>
          </a:xfrm>
          <a:prstGeom prst="straightConnector1">
            <a:avLst/>
          </a:prstGeom>
          <a:ln w="9525">
            <a:solidFill>
              <a:srgbClr val="2C1414"/>
            </a:solidFill>
            <a:round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293498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2"/>
    </mc:Choice>
    <mc:Fallback xmlns="">
      <p:transition spd="slow" advTm="1032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|8.6|0.3|0.2|0.2|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4.8|17.7|1.1|13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8|0.6|6.4|17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31|15.8|24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3|10.9|12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3.9|5.3|11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|1.4|17.7|15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6|22.4|4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|1.8|9|3.6|4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2.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0.5|2.9|8.2|0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4.9|6.5|6.5|1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8.6|0.8|1|2|1.3|1.3|1.4|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0.6|22.9|0.7|0.6|0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6|5.3|1.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0.7|4.4|6.5|3.7|5.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6|8.8|2.1|25.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1.1|4.3|3.9|2.5|2.7|8.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1|11.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9|15.8|3.8"/>
</p:tagLst>
</file>

<file path=ppt/theme/theme1.xml><?xml version="1.0" encoding="utf-8"?>
<a:theme xmlns:a="http://schemas.openxmlformats.org/drawingml/2006/main" name="Creative Watercolor by Slidesgo">
  <a:themeElements>
    <a:clrScheme name="Simple Light">
      <a:dk1>
        <a:srgbClr val="2C1414"/>
      </a:dk1>
      <a:lt1>
        <a:srgbClr val="F0D9CC"/>
      </a:lt1>
      <a:dk2>
        <a:srgbClr val="2C1414"/>
      </a:dk2>
      <a:lt2>
        <a:srgbClr val="E9C3A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C141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</TotalTime>
  <Words>2022</Words>
  <Application>Microsoft Office PowerPoint</Application>
  <PresentationFormat>On-screen Show (16:9)</PresentationFormat>
  <Paragraphs>296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50" baseType="lpstr">
      <vt:lpstr>SimSun</vt:lpstr>
      <vt:lpstr>Aptos</vt:lpstr>
      <vt:lpstr>Arial</vt:lpstr>
      <vt:lpstr>Atkinson Hyperlegible Next</vt:lpstr>
      <vt:lpstr>Atkinson Hyperlegible Next Light</vt:lpstr>
      <vt:lpstr>Calibri</vt:lpstr>
      <vt:lpstr>Fahkwang</vt:lpstr>
      <vt:lpstr>Fahkwang Light</vt:lpstr>
      <vt:lpstr>OpenSymbol</vt:lpstr>
      <vt:lpstr>Symbol</vt:lpstr>
      <vt:lpstr>Times New Roman</vt:lpstr>
      <vt:lpstr>Wingdings</vt:lpstr>
      <vt:lpstr>Creative Watercolor by Slidesgo</vt:lpstr>
      <vt:lpstr>Slidesgo Final Pages</vt:lpstr>
      <vt:lpstr>A DEEP LEARNING-BASED APPROACH FOR EXTRACTION OF INFORMATION FROM ELECTRONIC HEALTH RECORDS</vt:lpstr>
      <vt:lpstr>PRESENTATION ONLINE</vt:lpstr>
      <vt:lpstr>Introduction</vt:lpstr>
      <vt:lpstr>Introduction</vt:lpstr>
      <vt:lpstr>Motivation</vt:lpstr>
      <vt:lpstr>Motivation</vt:lpstr>
      <vt:lpstr>Research Objectives</vt:lpstr>
      <vt:lpstr>Related Work and Literature Review</vt:lpstr>
      <vt:lpstr>Related Work and Literature Review</vt:lpstr>
      <vt:lpstr>PowerPoint Presentation</vt:lpstr>
      <vt:lpstr>PowerPoint Presentation</vt:lpstr>
      <vt:lpstr>Gaps in Existing Literature</vt:lpstr>
      <vt:lpstr>PowerPoint Presentation</vt:lpstr>
      <vt:lpstr>Problem Statement</vt:lpstr>
      <vt:lpstr>Research Questions</vt:lpstr>
      <vt:lpstr>Methodology</vt:lpstr>
      <vt:lpstr>Methodology</vt:lpstr>
      <vt:lpstr>Dataset Description and Preprocessing</vt:lpstr>
      <vt:lpstr>Dataset Records</vt:lpstr>
      <vt:lpstr>Dataset Description and Preprocessing</vt:lpstr>
      <vt:lpstr>Model Design</vt:lpstr>
      <vt:lpstr>BiLSTM-based NER and Runtime Context Identifier</vt:lpstr>
      <vt:lpstr>Runtime Context Identifier</vt:lpstr>
      <vt:lpstr>Runtime Context Identifier Working</vt:lpstr>
      <vt:lpstr>Experimental Results</vt:lpstr>
      <vt:lpstr>Experimental Results</vt:lpstr>
      <vt:lpstr>Experimental Results</vt:lpstr>
      <vt:lpstr>Experimental Results</vt:lpstr>
      <vt:lpstr>Experimental Results</vt:lpstr>
      <vt:lpstr>Comparison of the performance metrics of a few representative approaches datasets used.</vt:lpstr>
      <vt:lpstr>Conclusions</vt:lpstr>
      <vt:lpstr>Future Work</vt:lpstr>
      <vt:lpstr>PowerPoint Presentation</vt:lpstr>
      <vt:lpstr>PowerPoint Presentation</vt:lpstr>
      <vt:lpstr>REFERENCES</vt:lpstr>
      <vt:lpstr>REFERENCES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DEEP LEARNING-BASED APPROACH FOR EXTRACTION OF INFORMATION FROM ELECTRONIC HEALTH RECORDS</dc:title>
  <dc:creator>Fatima Masood</dc:creator>
  <cp:lastModifiedBy>HP EliteBook 840 G1</cp:lastModifiedBy>
  <cp:revision>54</cp:revision>
  <dcterms:modified xsi:type="dcterms:W3CDTF">2025-12-30T04:51:55Z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2025-11-23T06:33:19Z</dcterms:created>
  <dc:creator>Unknown Creator</dc:creator>
  <dc:description/>
  <dc:language>en-US</dc:language>
  <cp:lastModifiedBy>Unknown Creator</cp:lastModifiedBy>
  <dcterms:modified xsi:type="dcterms:W3CDTF">2025-11-23T06:33:19Z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